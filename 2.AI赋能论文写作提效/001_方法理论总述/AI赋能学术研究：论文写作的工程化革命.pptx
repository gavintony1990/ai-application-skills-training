
<file path=[Content_Types].xml><?xml version="1.0" encoding="utf-8"?>
<Types xmlns="http://schemas.openxmlformats.org/package/2006/content-types">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notesSlides/notesSlide1.xml" Type="http://schemas.openxmlformats.org/officeDocument/2006/relationships/notesSlide"/><Relationship Id="rId27" Target="notesSlides/notesSlide2.xml" Type="http://schemas.openxmlformats.org/officeDocument/2006/relationships/notesSlide"/><Relationship Id="rId28" Target="notesSlides/notesSlide3.xml" Type="http://schemas.openxmlformats.org/officeDocument/2006/relationships/notesSlide"/><Relationship Id="rId29" Target="notesSlides/notesSlide4.xml" Type="http://schemas.openxmlformats.org/officeDocument/2006/relationships/notesSlide"/><Relationship Id="rId3" Target="presProps.xml" Type="http://schemas.openxmlformats.org/officeDocument/2006/relationships/presProps"/><Relationship Id="rId30" Target="notesSlides/notesSlide5.xml" Type="http://schemas.openxmlformats.org/officeDocument/2006/relationships/notesSlide"/><Relationship Id="rId31" Target="notesSlides/notesSlide6.xml" Type="http://schemas.openxmlformats.org/officeDocument/2006/relationships/notesSlide"/><Relationship Id="rId32" Target="notesSlides/notesSlide7.xml" Type="http://schemas.openxmlformats.org/officeDocument/2006/relationships/notesSlide"/><Relationship Id="rId33" Target="notesSlides/notesSlide8.xml" Type="http://schemas.openxmlformats.org/officeDocument/2006/relationships/notesSlide"/><Relationship Id="rId34" Target="notesSlides/notesSlide9.xml" Type="http://schemas.openxmlformats.org/officeDocument/2006/relationships/notesSlide"/><Relationship Id="rId35" Target="notesSlides/notesSlide10.xml" Type="http://schemas.openxmlformats.org/officeDocument/2006/relationships/notesSlide"/><Relationship Id="rId36" Target="notesSlides/notesSlide11.xml" Type="http://schemas.openxmlformats.org/officeDocument/2006/relationships/notesSlide"/><Relationship Id="rId37" Target="notesSlides/notesSlide12.xml" Type="http://schemas.openxmlformats.org/officeDocument/2006/relationships/notesSlide"/><Relationship Id="rId38" Target="notesSlides/notesSlide13.xml" Type="http://schemas.openxmlformats.org/officeDocument/2006/relationships/notesSlide"/><Relationship Id="rId39" Target="notesSlides/notesSlide14.xml" Type="http://schemas.openxmlformats.org/officeDocument/2006/relationships/notesSlide"/><Relationship Id="rId4" Target="slideMasters/slideMaster1.xml" Type="http://schemas.openxmlformats.org/officeDocument/2006/relationships/slideMaster"/><Relationship Id="rId40" Target="notesSlides/notesSlide15.xml" Type="http://schemas.openxmlformats.org/officeDocument/2006/relationships/notesSlide"/><Relationship Id="rId41" Target="notesSlides/notesSlide16.xml" Type="http://schemas.openxmlformats.org/officeDocument/2006/relationships/notesSlide"/><Relationship Id="rId42" Target="notesSlides/notesSlide17.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家好，欢迎参加本次由浙江大学博士生报告团带来的讲座。今天我分享的主题是“论文写作的工程化革命”。我们将一起探讨如何利用AI流程控制，系统性地提升我们的研究效率。希望通过这次分享，能帮助大家更好地应对科研挑战，将更多精力投入到真正有创造性的工作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正式开始之前，让我先简单介绍一下本次课程的核心内容。我们将提出一个全新的理念——“论文写作工程化”，并提供大量实战工具和方法。我们的目标是帮助大家量化地节省时间，并明确在AI时代，我们作为研究者的核心价值所在。希望这些内容能给大家带来切实的帮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我们正式开始之前，我想请大家思考一个问题：回顾你上一篇论文，哪个阶段最让你头疼？是读文献、写论文，还是改格式？请大家根据自己的情况举手示意。好的，谢谢大家。我相信这些都是大家的痛点。但今天，我想告诉大家，这些问题都有系统性的解决方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让我们先来看一个演示。我将一段文字交给AI，让它扮演一个苛刻的审稿人。大家看，AI给出的反馈非常专业和犀利。这说明AI已经成为我们强大的智能伙伴。由此，我引出今天的核心命题：好论文，不是等来的，而是设计出来的。我们需要用工程思维来重塑我们的科研流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更好地理解“工程化”这个概念，我们可以把论文写作和一个工程项目做个类比。从交付物、工序阶段，到质量控制和迭代优化，论文写作的每一个环节都对应着工程项目的要素。这让我们明白，科研工作是可以被规划和管理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工程学中，有一个核心机制叫反馈控制。我们可以把这个思想引入论文写作。大家看这个流程图，我们设定目标，执行，然后由AI来检测和识别偏差，我们再进行修正。这个闭环的核心价值在于，它把过去滞后的反馈，变成了即时的指导，让我们始终走在正确的轨道上。</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有效利用AI，我们需要明确人机协作的边界。我把科研工作分为三层：顶层的创造性工作，必须由人主导；底层的机械性工作，应该交给AI；中层的分析性工作，则需要人机协作。我们的目标，就是把大家从繁琐的底层工作中解放出来，让你们能专注于最有价值的创造性工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先来看最底层的机械性工作。这张表格列出了一些常见的任务，比如文献管理、语言润色、写摘要等等。通过使用AI工具，每篇论文在这些环节上至少可以节省10到25个小时。这些省下来的时间，可以让你去做更有价值的事情。</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将现场演示如何用AI在5分钟内生成一份高质量的英文摘要。大家可以看到，整个过程非常简单：准备好输入，调用AI工具，使用精准的Prompt，然后进行迭代优化。通过这种方式，我们可以极大地提高写作效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对于中层的分析性工作，AI的角色变成了高级研究助理。它负责处理信息、生成初步框架，而你则负责深度思考和最终决策。这张表格清晰地展示了在文献综述、实验方案对比等任务中，AI和人的分工。关键在于，AI负责“做”，而你负责“判”。</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我们来看第二个演示：如何用AI深度分析文献，找到研究空白。我将使用NotebookLM这个工具，上传几篇论文，然后向它提问。大家可以看到，AI能够快速总结出研究的热点和盲点，并给出有价值的研究切入点建议。这能帮助我们站在巨人的肩膀上，找到自己的创新方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对于最顶层的创造性工作，AI无法替代我们，但它可以成为一面“思想镜子”。我们可以让AI扮演苛刻的审稿人，提前帮我们找出研究的弱点；也可以让它成为跨领域的启发者，给我们带来新的灵感；还可以让它扮演辩论对手，帮助我们完善论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现在，我们把所有环节整合起来，构建一个完整的AI赋能研究流水线。从选题、调研、写作到投稿修改，每个阶段都有AI工具的参与。这个流水线的核心是人机关协同，AI负责执行，而你负责决策和创新。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让高效成为一种习惯，我们需要建立自己的个人标准作业流程，也就是SOP。一个好的SOP应该包含流程定义、工具清单、Prompt库、产出标准、质量控制点和复盘机制。建立SOP的过程，就是把高效的实践固化下来的过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我想和大家探讨一个问题：在AI时代，我们研究者真正的护城河是什么？我的答案是：执行力可以被替代，但问题意识不能。未来的核心竞争力在于流程设计能力、高质量提问能力和对AI产出的质量判断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这里为大家整理了一份AI工具箱，大家可以拍照保存。我建议大家不要贪多，从两个工具开始尝试，比如NotebookLM和Claude。记住，最重要的不是工具本身，而是使用工具的思维方式。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的分享到此结束，现在是问答环节。大家有什么问题可以随时提出。也欢迎大家思考屏幕上的这几个问题。最后，我想用两句话结束今天的分享：不要用博士的大脑，去做助理的工作。把流程设计好，让AI替你跑。谢谢大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notesSlides/notesSlide2.xml" Type="http://schemas.openxmlformats.org/officeDocument/2006/relationships/notesSlid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notesSlides/notesSlide17.xml" Type="http://schemas.openxmlformats.org/officeDocument/2006/relationships/notesSlide"/><Relationship Id="rId5" Target="../media/image1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1778000" y="762000"/>
            <a:ext cx="1016000" cy="1016000"/>
          </a:xfrm>
          <a:prstGeom prst="rect">
            <a:avLst/>
          </a:prstGeom>
          <a:noFill/>
          <a:ln w="25400" cmpd="sng" cap="flat">
            <a:noFill/>
            <a:prstDash val="solid"/>
            <a:round/>
          </a:ln>
        </p:spPr>
      </p:pic>
      <p:pic>
        <p:nvPicPr>
          <p:cNvPr name="Picture 3" id="3"/>
          <p:cNvPicPr>
            <a:picLocks noChangeAspect="true"/>
          </p:cNvPicPr>
          <p:nvPr/>
        </p:nvPicPr>
        <p:blipFill>
          <a:blip r:embed="rId3"/>
          <a:srcRect l="775" r="775" t="0" b="0"/>
          <a:stretch>
            <a:fillRect/>
          </a:stretch>
        </p:blipFill>
        <p:spPr>
          <a:xfrm rot="0" flipH="false" flipV="false">
            <a:off x="9398000" y="762000"/>
            <a:ext cx="1016000" cy="1016000"/>
          </a:xfrm>
          <a:prstGeom prst="rect">
            <a:avLst/>
          </a:prstGeom>
          <a:noFill/>
          <a:ln w="25400" cmpd="sng" cap="flat">
            <a:noFill/>
            <a:prstDash val="solid"/>
            <a:round/>
          </a:ln>
        </p:spPr>
      </p:pic>
      <p:sp>
        <p:nvSpPr>
          <p:cNvPr name="AutoShape 4" id="4"/>
          <p:cNvSpPr/>
          <p:nvPr/>
        </p:nvSpPr>
        <p:spPr>
          <a:xfrm rot="0" flipH="false" flipV="false">
            <a:off x="0" y="2286000"/>
            <a:ext cx="12192000" cy="1143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800">
                <a:solidFill>
                  <a:srgbClr val="0F172A"/>
                </a:solidFill>
                <a:latin typeface="Noto Sans SC"/>
                <a:ea typeface="Noto Sans SC"/>
                <a:cs typeface="Noto Sans SC"/>
                <a:sym typeface="Noto Sans SC"/>
              </a:rPr>
              <a:t>论文写作的工程化革命</a:t>
            </a:r>
            <a:endParaRPr lang="en-US" sz="1100"/>
          </a:p>
        </p:txBody>
      </p:sp>
      <p:sp>
        <p:nvSpPr>
          <p:cNvPr name="AutoShape 5" id="5"/>
          <p:cNvSpPr/>
          <p:nvPr/>
        </p:nvSpPr>
        <p:spPr>
          <a:xfrm rot="0" flipH="false" flipV="false">
            <a:off x="0" y="3683000"/>
            <a:ext cx="12192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600">
                <a:solidFill>
                  <a:srgbClr val="475569"/>
                </a:solidFill>
                <a:latin typeface="Noto Sans SC"/>
                <a:ea typeface="Noto Sans SC"/>
                <a:cs typeface="Noto Sans SC"/>
                <a:sym typeface="Noto Sans SC"/>
              </a:rPr>
              <a:t>用AI流程控制，系统性提升研究效率</a:t>
            </a:r>
            <a:endParaRPr lang="en-US" sz="1100"/>
          </a:p>
        </p:txBody>
      </p:sp>
      <p:sp>
        <p:nvSpPr>
          <p:cNvPr name="AutoShape 6" id="6"/>
          <p:cNvSpPr/>
          <p:nvPr/>
        </p:nvSpPr>
        <p:spPr>
          <a:xfrm rot="0" flipH="false" flipV="false">
            <a:off x="2286000" y="4953000"/>
            <a:ext cx="7620000" cy="1397000"/>
          </a:xfrm>
          <a:prstGeom prst="roundRect">
            <a:avLst>
              <a:gd name="adj" fmla="val 10909"/>
            </a:avLst>
          </a:prstGeom>
          <a:solidFill>
            <a:srgbClr val="F1F5F9">
              <a:alpha val="100000"/>
            </a:srgbClr>
          </a:solidFill>
          <a:ln w="12700" cmpd="sng" cap="flat">
            <a:solidFill>
              <a:srgbClr val="E2E8F0">
                <a:alpha val="10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2413000" y="5143500"/>
            <a:ext cx="7366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true" i="false" strike="noStrike" u="none" sz="1800">
                <a:solidFill>
                  <a:srgbClr val="1E293B"/>
                </a:solidFill>
                <a:latin typeface="Noto Sans SC"/>
                <a:ea typeface="Noto Sans SC"/>
                <a:cs typeface="Noto Sans SC"/>
                <a:sym typeface="Noto Sans SC"/>
              </a:rPr>
              <a:t>讲师：[请在此处填写讲师姓名] | 浙江大学XX学院 XX专业博士研究生</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16666"/>
              </a:lnSpc>
            </a:pPr>
            <a:r>
              <a:rPr lang="en-US" b="false" i="false" strike="noStrike" u="none" sz="1600">
                <a:solidFill>
                  <a:srgbClr val="64748B"/>
                </a:solidFill>
                <a:latin typeface="Noto Sans SC"/>
                <a:ea typeface="Noto Sans SC"/>
                <a:cs typeface="Noto Sans SC"/>
                <a:sym typeface="Noto Sans SC"/>
              </a:rPr>
              <a:t>2026年3月 · 浙江大学博士生报告团</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317500"/>
            <a:ext cx="914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000">
                <a:solidFill>
                  <a:srgbClr val="0F4C81"/>
                </a:solidFill>
                <a:latin typeface="Noto Sans SC"/>
                <a:ea typeface="Noto Sans SC"/>
                <a:cs typeface="Noto Sans SC"/>
                <a:sym typeface="Noto Sans SC"/>
              </a:rPr>
              <a:t>论文写作工程化：AI时代的科研提效之道</a:t>
            </a:r>
            <a:endParaRPr lang="en-US" sz="1100"/>
          </a:p>
        </p:txBody>
      </p:sp>
      <p:pic>
        <p:nvPicPr>
          <p:cNvPr name="Picture 3" id="3"/>
          <p:cNvPicPr>
            <a:picLocks noChangeAspect="true"/>
          </p:cNvPicPr>
          <p:nvPr/>
        </p:nvPicPr>
        <p:blipFill>
          <a:blip r:embed="rId2"/>
          <a:srcRect l="0" r="0" t="0" b="0"/>
          <a:stretch>
            <a:fillRect/>
          </a:stretch>
        </p:blipFill>
        <p:spPr>
          <a:xfrm rot="0" flipH="false" flipV="false">
            <a:off x="9779000" y="254000"/>
            <a:ext cx="889000" cy="889000"/>
          </a:xfrm>
          <a:prstGeom prst="rect">
            <a:avLst/>
          </a:prstGeom>
          <a:noFill/>
          <a:ln w="25400" cmpd="sng" cap="flat">
            <a:noFill/>
            <a:prstDash val="solid"/>
            <a:round/>
          </a:ln>
        </p:spPr>
      </p:pic>
      <p:pic>
        <p:nvPicPr>
          <p:cNvPr name="Picture 4" id="4"/>
          <p:cNvPicPr>
            <a:picLocks noChangeAspect="true"/>
          </p:cNvPicPr>
          <p:nvPr/>
        </p:nvPicPr>
        <p:blipFill>
          <a:blip r:embed="rId3"/>
          <a:srcRect l="775" r="775" t="0" b="0"/>
          <a:stretch>
            <a:fillRect/>
          </a:stretch>
        </p:blipFill>
        <p:spPr>
          <a:xfrm rot="0" flipH="false" flipV="false">
            <a:off x="10922000" y="254000"/>
            <a:ext cx="889000" cy="889000"/>
          </a:xfrm>
          <a:prstGeom prst="rect">
            <a:avLst/>
          </a:prstGeom>
          <a:noFill/>
          <a:ln w="25400" cmpd="sng" cap="flat">
            <a:noFill/>
            <a:prstDash val="solid"/>
            <a:round/>
          </a:ln>
        </p:spPr>
      </p:pic>
      <p:sp>
        <p:nvSpPr>
          <p:cNvPr name="AutoShape 5" id="5"/>
          <p:cNvSpPr/>
          <p:nvPr/>
        </p:nvSpPr>
        <p:spPr>
          <a:xfrm rot="0" flipH="false" flipV="false">
            <a:off x="508000" y="1524000"/>
            <a:ext cx="5334000" cy="4826000"/>
          </a:xfrm>
          <a:prstGeom prst="roundRect">
            <a:avLst>
              <a:gd name="adj" fmla="val 3157"/>
            </a:avLst>
          </a:prstGeom>
          <a:solidFill>
            <a:srgbClr val="F0F5FF">
              <a:alpha val="100000"/>
            </a:srgbClr>
          </a:solidFill>
          <a:ln w="12700" cmpd="sng" cap="flat">
            <a:solidFill>
              <a:srgbClr val="BFDBFE">
                <a:alpha val="10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778000"/>
            <a:ext cx="482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F4C81"/>
                </a:solidFill>
                <a:latin typeface="Noto Sans SC"/>
                <a:ea typeface="Noto Sans SC"/>
                <a:cs typeface="Noto Sans SC"/>
                <a:sym typeface="Noto Sans SC"/>
              </a:rPr>
              <a:t>▍ 课程简介</a:t>
            </a:r>
            <a:endParaRPr lang="en-US" sz="1100"/>
          </a:p>
        </p:txBody>
      </p:sp>
      <p:sp>
        <p:nvSpPr>
          <p:cNvPr name="AutoShape 7" id="7"/>
          <p:cNvSpPr/>
          <p:nvPr/>
        </p:nvSpPr>
        <p:spPr>
          <a:xfrm rot="0" flipH="false" flipV="false">
            <a:off x="762000" y="2540000"/>
            <a:ext cx="4826000" cy="342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374151"/>
                </a:solidFill>
                <a:latin typeface="Noto Sans SC"/>
                <a:ea typeface="Noto Sans SC"/>
                <a:cs typeface="Noto Sans SC"/>
                <a:sym typeface="Noto Sans SC"/>
              </a:rPr>
              <a:t>本讲座旨在帮助广大研究生和青年学者应对日益增长的科研压力与挑战。针对大量研究者将宝贵时间耗费在重复性、低价值工作中的现状，本次报告提出了“论文写作工程化”的核心理念。</a:t>
            </a:r>
            <a:r>
              <a:rPr lang="en-US" b="false" i="false" strike="noStrike" u="none" sz="1300">
                <a:solidFill>
                  <a:srgbClr val="374151"/>
                </a:solidFill>
                <a:latin typeface="Noto Sans SC"/>
                <a:ea typeface="Noto Sans SC"/>
                <a:cs typeface="Noto Sans SC"/>
                <a:sym typeface="Noto Sans SC"/>
              </a:rPr>
              <a:t/>
            </a:r>
            <a:endParaRPr lang="en-US" sz="1100"/>
          </a:p>
          <a:p>
            <a:pPr algn="l" indent="0">
              <a:lnSpc>
                <a:spcPct val="125000"/>
              </a:lnSpc>
              <a:spcBef>
                <a:spcPts val="1000"/>
              </a:spcBef>
            </a:pPr>
            <a:r>
              <a:rPr lang="en-US" b="false" i="false" strike="noStrike" u="none" sz="1300">
                <a:solidFill>
                  <a:srgbClr val="374151"/>
                </a:solidFill>
                <a:latin typeface="Noto Sans SC"/>
                <a:ea typeface="Noto Sans SC"/>
                <a:cs typeface="Noto Sans SC"/>
                <a:sym typeface="Noto Sans SC"/>
              </a:rPr>
              <a:t>我们将现代项目管理方法与AI技术深度融合，提供一套系统性的解决方案：将论文写作拆解为标准化的可管理流程，并利用AI作为“智能助理”，帮助大家从繁琐的机械性工作中解放出来。讲座将通过丰富的案例、现场演示与互动讨论，为您揭示一套可复制、可优化的高效研究范式，从而聚焦于真正具有创造性的“问题意识”和深度思考，最终实现科研效率的指数级提升。</a:t>
            </a:r>
          </a:p>
        </p:txBody>
      </p:sp>
      <p:sp>
        <p:nvSpPr>
          <p:cNvPr name="AutoShape 8" id="8"/>
          <p:cNvSpPr/>
          <p:nvPr/>
        </p:nvSpPr>
        <p:spPr>
          <a:xfrm rot="0" flipH="false" flipV="false">
            <a:off x="6223000" y="1524000"/>
            <a:ext cx="2730500" cy="2286000"/>
          </a:xfrm>
          <a:prstGeom prst="roundRect">
            <a:avLst>
              <a:gd name="adj" fmla="val 5555"/>
            </a:avLst>
          </a:prstGeom>
          <a:solidFill>
            <a:srgbClr val="FFF7ED">
              <a:alpha val="100000"/>
            </a:srgbClr>
          </a:solidFill>
          <a:ln w="12700" cmpd="sng" cap="flat">
            <a:solidFill>
              <a:srgbClr val="FED7AA">
                <a:alpha val="10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13500" y="1778000"/>
            <a:ext cx="304800" cy="304800"/>
          </a:xfrm>
          <a:prstGeom prst="rect">
            <a:avLst/>
          </a:prstGeom>
        </p:spPr>
      </p:pic>
      <p:sp>
        <p:nvSpPr>
          <p:cNvPr name="AutoShape 10" id="10"/>
          <p:cNvSpPr/>
          <p:nvPr/>
        </p:nvSpPr>
        <p:spPr>
          <a:xfrm rot="0" flipH="false" flipV="false">
            <a:off x="6858000" y="1752600"/>
            <a:ext cx="190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9A3412"/>
                </a:solidFill>
                <a:latin typeface="Noto Sans SC"/>
                <a:ea typeface="Noto Sans SC"/>
                <a:cs typeface="Noto Sans SC"/>
                <a:sym typeface="Noto Sans SC"/>
              </a:rPr>
              <a:t>理念革新</a:t>
            </a:r>
            <a:endParaRPr lang="en-US" sz="1100"/>
          </a:p>
        </p:txBody>
      </p:sp>
      <p:sp>
        <p:nvSpPr>
          <p:cNvPr name="AutoShape 11" id="11"/>
          <p:cNvSpPr/>
          <p:nvPr/>
        </p:nvSpPr>
        <p:spPr>
          <a:xfrm rot="0" flipH="false" flipV="false">
            <a:off x="6413500" y="2413000"/>
            <a:ext cx="23495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突破传统观念，将科研工作从“艺术创作”转变为可标准化、可设计、可优化的工程流程，重塑写作逻辑。</a:t>
            </a:r>
            <a:endParaRPr lang="en-US" sz="1100"/>
          </a:p>
        </p:txBody>
      </p:sp>
      <p:sp>
        <p:nvSpPr>
          <p:cNvPr name="AutoShape 12" id="12"/>
          <p:cNvSpPr/>
          <p:nvPr/>
        </p:nvSpPr>
        <p:spPr>
          <a:xfrm rot="0" flipH="false" flipV="false">
            <a:off x="9144000" y="1524000"/>
            <a:ext cx="2730500" cy="2286000"/>
          </a:xfrm>
          <a:prstGeom prst="roundRect">
            <a:avLst>
              <a:gd name="adj" fmla="val 5555"/>
            </a:avLst>
          </a:prstGeom>
          <a:solidFill>
            <a:srgbClr val="ECFDF5">
              <a:alpha val="100000"/>
            </a:srgbClr>
          </a:solidFill>
          <a:ln w="12700" cmpd="sng" cap="flat">
            <a:solidFill>
              <a:srgbClr val="A7F3D0">
                <a:alpha val="10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334500" y="1778000"/>
            <a:ext cx="304800" cy="304800"/>
          </a:xfrm>
          <a:prstGeom prst="rect">
            <a:avLst/>
          </a:prstGeom>
        </p:spPr>
      </p:pic>
      <p:sp>
        <p:nvSpPr>
          <p:cNvPr name="AutoShape 14" id="14"/>
          <p:cNvSpPr/>
          <p:nvPr/>
        </p:nvSpPr>
        <p:spPr>
          <a:xfrm rot="0" flipH="false" flipV="false">
            <a:off x="9779000" y="1752600"/>
            <a:ext cx="190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65F46"/>
                </a:solidFill>
                <a:latin typeface="Noto Sans SC"/>
                <a:ea typeface="Noto Sans SC"/>
                <a:cs typeface="Noto Sans SC"/>
                <a:sym typeface="Noto Sans SC"/>
              </a:rPr>
              <a:t>实战导向</a:t>
            </a:r>
            <a:endParaRPr lang="en-US" sz="1100"/>
          </a:p>
        </p:txBody>
      </p:sp>
      <p:sp>
        <p:nvSpPr>
          <p:cNvPr name="AutoShape 15" id="15"/>
          <p:cNvSpPr/>
          <p:nvPr/>
        </p:nvSpPr>
        <p:spPr>
          <a:xfrm rot="0" flipH="false" flipV="false">
            <a:off x="9334500" y="2413000"/>
            <a:ext cx="23495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提供大量可直接上手的AI工具(Claude/NotebookLM/Zotero等)及实战Prompt，拒绝纸上谈兵，即学即用。</a:t>
            </a:r>
            <a:endParaRPr lang="en-US" sz="1100"/>
          </a:p>
        </p:txBody>
      </p:sp>
      <p:sp>
        <p:nvSpPr>
          <p:cNvPr name="AutoShape 16" id="16"/>
          <p:cNvSpPr/>
          <p:nvPr/>
        </p:nvSpPr>
        <p:spPr>
          <a:xfrm rot="0" flipH="false" flipV="false">
            <a:off x="6223000" y="4064000"/>
            <a:ext cx="2730500" cy="2286000"/>
          </a:xfrm>
          <a:prstGeom prst="roundRect">
            <a:avLst>
              <a:gd name="adj" fmla="val 5555"/>
            </a:avLst>
          </a:prstGeom>
          <a:solidFill>
            <a:srgbClr val="EFF6FF">
              <a:alpha val="100000"/>
            </a:srgbClr>
          </a:solidFill>
          <a:ln w="12700" cmpd="sng" cap="flat">
            <a:solidFill>
              <a:srgbClr val="BFDBFE">
                <a:alpha val="10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413500" y="4318000"/>
            <a:ext cx="304800" cy="304800"/>
          </a:xfrm>
          <a:prstGeom prst="rect">
            <a:avLst/>
          </a:prstGeom>
        </p:spPr>
      </p:pic>
      <p:sp>
        <p:nvSpPr>
          <p:cNvPr name="AutoShape 18" id="18"/>
          <p:cNvSpPr/>
          <p:nvPr/>
        </p:nvSpPr>
        <p:spPr>
          <a:xfrm rot="0" flipH="false" flipV="false">
            <a:off x="6858000" y="4292600"/>
            <a:ext cx="190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E40AF"/>
                </a:solidFill>
                <a:latin typeface="Noto Sans SC"/>
                <a:ea typeface="Noto Sans SC"/>
                <a:cs typeface="Noto Sans SC"/>
                <a:sym typeface="Noto Sans SC"/>
              </a:rPr>
              <a:t>量化收益</a:t>
            </a:r>
            <a:endParaRPr lang="en-US" sz="1100"/>
          </a:p>
        </p:txBody>
      </p:sp>
      <p:sp>
        <p:nvSpPr>
          <p:cNvPr name="AutoShape 19" id="19"/>
          <p:cNvSpPr/>
          <p:nvPr/>
        </p:nvSpPr>
        <p:spPr>
          <a:xfrm rot="0" flipH="false" flipV="false">
            <a:off x="6413500" y="4953000"/>
            <a:ext cx="23495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清晰展示AI提效潜力：每篇论文预计可节省</a:t>
            </a:r>
            <a:r>
              <a:rPr lang="en-US" b="true" i="false" strike="noStrike" u="none" sz="1200">
                <a:solidFill>
                  <a:srgbClr val="DC2626"/>
                </a:solidFill>
                <a:latin typeface="Noto Sans SC"/>
                <a:ea typeface="Noto Sans SC"/>
                <a:cs typeface="Noto Sans SC"/>
                <a:sym typeface="Noto Sans SC"/>
              </a:rPr>
              <a:t>10-25小时</a:t>
            </a:r>
            <a:r>
              <a:rPr lang="en-US" b="false" i="false" strike="noStrike" u="none" sz="1200">
                <a:solidFill>
                  <a:srgbClr val="4B5563"/>
                </a:solidFill>
                <a:latin typeface="Noto Sans SC"/>
                <a:ea typeface="Noto Sans SC"/>
                <a:cs typeface="Noto Sans SC"/>
                <a:sym typeface="Noto Sans SC"/>
              </a:rPr>
              <a:t>的文献整理、格式调整等机械性工作时间。</a:t>
            </a:r>
            <a:endParaRPr lang="en-US" sz="1100"/>
          </a:p>
        </p:txBody>
      </p:sp>
      <p:sp>
        <p:nvSpPr>
          <p:cNvPr name="AutoShape 20" id="20"/>
          <p:cNvSpPr/>
          <p:nvPr/>
        </p:nvSpPr>
        <p:spPr>
          <a:xfrm rot="0" flipH="false" flipV="false">
            <a:off x="9144000" y="4064000"/>
            <a:ext cx="2730500" cy="2286000"/>
          </a:xfrm>
          <a:prstGeom prst="roundRect">
            <a:avLst>
              <a:gd name="adj" fmla="val 5555"/>
            </a:avLst>
          </a:prstGeom>
          <a:solidFill>
            <a:srgbClr val="F3E8FF">
              <a:alpha val="100000"/>
            </a:srgbClr>
          </a:solidFill>
          <a:ln w="12700" cmpd="sng" cap="flat">
            <a:solidFill>
              <a:srgbClr val="D8B4FE">
                <a:alpha val="100000"/>
              </a:srgbClr>
            </a:solid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9334500" y="4318000"/>
            <a:ext cx="304800" cy="304800"/>
          </a:xfrm>
          <a:prstGeom prst="rect">
            <a:avLst/>
          </a:prstGeom>
        </p:spPr>
      </p:pic>
      <p:sp>
        <p:nvSpPr>
          <p:cNvPr name="AutoShape 22" id="22"/>
          <p:cNvSpPr/>
          <p:nvPr/>
        </p:nvSpPr>
        <p:spPr>
          <a:xfrm rot="0" flipH="false" flipV="false">
            <a:off x="9779000" y="4292600"/>
            <a:ext cx="190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5B21B6"/>
                </a:solidFill>
                <a:latin typeface="Noto Sans SC"/>
                <a:ea typeface="Noto Sans SC"/>
                <a:cs typeface="Noto Sans SC"/>
                <a:sym typeface="Noto Sans SC"/>
              </a:rPr>
              <a:t>人机协作</a:t>
            </a:r>
            <a:endParaRPr lang="en-US" sz="1100"/>
          </a:p>
        </p:txBody>
      </p:sp>
      <p:sp>
        <p:nvSpPr>
          <p:cNvPr name="AutoShape 23" id="23"/>
          <p:cNvSpPr/>
          <p:nvPr/>
        </p:nvSpPr>
        <p:spPr>
          <a:xfrm rot="0" flipH="false" flipV="false">
            <a:off x="9334500" y="4953000"/>
            <a:ext cx="23495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明确人与AI的职责边界，让AI做辅助，强调并巩固研究者的核心竞争力——“问题意识”与质量判断力。</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508000" y="254000"/>
            <a:ext cx="609600" cy="609600"/>
          </a:xfrm>
          <a:prstGeom prst="rect">
            <a:avLst/>
          </a:prstGeom>
          <a:noFill/>
          <a:ln w="25400" cmpd="sng" cap="flat">
            <a:noFill/>
            <a:prstDash val="solid"/>
            <a:round/>
          </a:ln>
        </p:spPr>
      </p:pic>
      <p:pic>
        <p:nvPicPr>
          <p:cNvPr name="Picture 3" id="3"/>
          <p:cNvPicPr>
            <a:picLocks noChangeAspect="true"/>
          </p:cNvPicPr>
          <p:nvPr/>
        </p:nvPicPr>
        <p:blipFill>
          <a:blip r:embed="rId3"/>
          <a:srcRect l="0" r="0" t="249" b="249"/>
          <a:stretch>
            <a:fillRect/>
          </a:stretch>
        </p:blipFill>
        <p:spPr>
          <a:xfrm rot="0" flipH="false" flipV="false">
            <a:off x="11074400" y="254000"/>
            <a:ext cx="622300" cy="609600"/>
          </a:xfrm>
          <a:prstGeom prst="rect">
            <a:avLst/>
          </a:prstGeom>
          <a:noFill/>
          <a:ln w="25400" cmpd="sng" cap="flat">
            <a:noFill/>
            <a:prstDash val="solid"/>
            <a:round/>
          </a:ln>
        </p:spPr>
      </p:pic>
      <p:sp>
        <p:nvSpPr>
          <p:cNvPr name="AutoShape 4" id="4"/>
          <p:cNvSpPr/>
          <p:nvPr/>
        </p:nvSpPr>
        <p:spPr>
          <a:xfrm rot="0" flipH="false" flipV="false">
            <a:off x="1524000" y="381000"/>
            <a:ext cx="9144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200">
                <a:solidFill>
                  <a:srgbClr val="0E4287"/>
                </a:solidFill>
                <a:latin typeface="Noto Sans SC"/>
                <a:ea typeface="Noto Sans SC"/>
                <a:cs typeface="Noto Sans SC"/>
                <a:sym typeface="Noto Sans SC"/>
              </a:rPr>
              <a:t>你的时间都去哪了？——一个关于科研效率的灵魂拷问</a:t>
            </a:r>
            <a:endParaRPr lang="en-US" sz="1100"/>
          </a:p>
        </p:txBody>
      </p:sp>
      <p:sp>
        <p:nvSpPr>
          <p:cNvPr name="AutoShape 5" id="5"/>
          <p:cNvSpPr/>
          <p:nvPr/>
        </p:nvSpPr>
        <p:spPr>
          <a:xfrm rot="0" flipH="false" flipV="false">
            <a:off x="508000" y="1397000"/>
            <a:ext cx="11176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333333"/>
                </a:solidFill>
                <a:latin typeface="Noto Sans SC"/>
                <a:ea typeface="Noto Sans SC"/>
                <a:cs typeface="Noto Sans SC"/>
                <a:sym typeface="Noto Sans SC"/>
              </a:rPr>
              <a:t>回顾你上一篇（或正在进行的）论文，哪个阶段让你觉得最耗时、最痛苦？请大家根据自己的情况举手示意：</a:t>
            </a:r>
            <a:endParaRPr lang="en-US" sz="1100"/>
          </a:p>
        </p:txBody>
      </p:sp>
      <p:sp>
        <p:nvSpPr>
          <p:cNvPr name="AutoShape 6" id="6"/>
          <p:cNvSpPr/>
          <p:nvPr/>
        </p:nvSpPr>
        <p:spPr>
          <a:xfrm rot="0" flipH="false" flipV="false">
            <a:off x="508000" y="2286000"/>
            <a:ext cx="3556000" cy="1651000"/>
          </a:xfrm>
          <a:prstGeom prst="roundRect">
            <a:avLst>
              <a:gd name="adj" fmla="val 6153"/>
            </a:avLst>
          </a:prstGeom>
          <a:solidFill>
            <a:srgbClr val="F0F9FF">
              <a:alpha val="100000"/>
            </a:srgbClr>
          </a:solidFill>
          <a:ln w="12700" cmpd="sng" cap="flat">
            <a:solidFill>
              <a:srgbClr val="BAE6FD">
                <a:alpha val="10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635000" y="2413000"/>
            <a:ext cx="3302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800">
                <a:solidFill>
                  <a:srgbClr val="1E40AF"/>
                </a:solidFill>
                <a:latin typeface="Noto Sans SC"/>
                <a:ea typeface="Noto Sans SC"/>
                <a:cs typeface="Noto Sans SC"/>
                <a:sym typeface="Noto Sans SC"/>
              </a:rPr>
              <a:t>A. 读文献、整理综述</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200">
                <a:solidFill>
                  <a:srgbClr val="6B7280"/>
                </a:solidFill>
                <a:latin typeface="Noto Sans SC"/>
                <a:ea typeface="Noto Sans SC"/>
                <a:cs typeface="Noto Sans SC"/>
                <a:sym typeface="Noto Sans SC"/>
              </a:rPr>
              <a:t>茫茫文献海洋，找不到重点？观点分散，难以形成体系？</a:t>
            </a:r>
          </a:p>
        </p:txBody>
      </p:sp>
      <p:sp>
        <p:nvSpPr>
          <p:cNvPr name="AutoShape 8" id="8"/>
          <p:cNvSpPr/>
          <p:nvPr/>
        </p:nvSpPr>
        <p:spPr>
          <a:xfrm rot="0" flipH="false" flipV="false">
            <a:off x="4318000" y="2286000"/>
            <a:ext cx="3556000" cy="1651000"/>
          </a:xfrm>
          <a:prstGeom prst="roundRect">
            <a:avLst>
              <a:gd name="adj" fmla="val 6153"/>
            </a:avLst>
          </a:prstGeom>
          <a:solidFill>
            <a:srgbClr val="F0F9FF">
              <a:alpha val="100000"/>
            </a:srgbClr>
          </a:solidFill>
          <a:ln w="12700" cmpd="sng" cap="flat">
            <a:solidFill>
              <a:srgbClr val="BAE6FD">
                <a:alpha val="10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4445000" y="2413000"/>
            <a:ext cx="3302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800">
                <a:solidFill>
                  <a:srgbClr val="1E40AF"/>
                </a:solidFill>
                <a:latin typeface="Noto Sans SC"/>
                <a:ea typeface="Noto Sans SC"/>
                <a:cs typeface="Noto Sans SC"/>
                <a:sym typeface="Noto Sans SC"/>
              </a:rPr>
              <a:t>B. 写作和反复修改</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200">
                <a:solidFill>
                  <a:srgbClr val="6B7280"/>
                </a:solidFill>
                <a:latin typeface="Noto Sans SC"/>
                <a:ea typeface="Noto Sans SC"/>
                <a:cs typeface="Noto Sans SC"/>
                <a:sym typeface="Noto Sans SC"/>
              </a:rPr>
              <a:t>思路枯竭，写不出第一句话？语言表达不精准，反复打磨？</a:t>
            </a:r>
          </a:p>
        </p:txBody>
      </p:sp>
      <p:sp>
        <p:nvSpPr>
          <p:cNvPr name="AutoShape 10" id="10"/>
          <p:cNvSpPr/>
          <p:nvPr/>
        </p:nvSpPr>
        <p:spPr>
          <a:xfrm rot="0" flipH="false" flipV="false">
            <a:off x="8128000" y="2286000"/>
            <a:ext cx="3556000" cy="1651000"/>
          </a:xfrm>
          <a:prstGeom prst="roundRect">
            <a:avLst>
              <a:gd name="adj" fmla="val 6153"/>
            </a:avLst>
          </a:prstGeom>
          <a:solidFill>
            <a:srgbClr val="F0F9FF">
              <a:alpha val="100000"/>
            </a:srgbClr>
          </a:solidFill>
          <a:ln w="12700" cmpd="sng" cap="flat">
            <a:solidFill>
              <a:srgbClr val="BAE6FD">
                <a:alpha val="10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8255000" y="2413000"/>
            <a:ext cx="3302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800">
                <a:solidFill>
                  <a:srgbClr val="1E40AF"/>
                </a:solidFill>
                <a:latin typeface="Noto Sans SC"/>
                <a:ea typeface="Noto Sans SC"/>
                <a:cs typeface="Noto Sans SC"/>
                <a:sym typeface="Noto Sans SC"/>
              </a:rPr>
              <a:t>C. 做实验 / 跑数据</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200">
                <a:solidFill>
                  <a:srgbClr val="6B7280"/>
                </a:solidFill>
                <a:latin typeface="Noto Sans SC"/>
                <a:ea typeface="Noto Sans SC"/>
                <a:cs typeface="Noto Sans SC"/>
                <a:sym typeface="Noto Sans SC"/>
              </a:rPr>
              <a:t>实验周期长，等待过程焦虑？代码调试耗时，结果不理想？</a:t>
            </a:r>
          </a:p>
        </p:txBody>
      </p:sp>
      <p:sp>
        <p:nvSpPr>
          <p:cNvPr name="AutoShape 12" id="12"/>
          <p:cNvSpPr/>
          <p:nvPr/>
        </p:nvSpPr>
        <p:spPr>
          <a:xfrm rot="0" flipH="false" flipV="false">
            <a:off x="1905000" y="4191000"/>
            <a:ext cx="4000500" cy="1397000"/>
          </a:xfrm>
          <a:prstGeom prst="roundRect">
            <a:avLst>
              <a:gd name="adj" fmla="val 7272"/>
            </a:avLst>
          </a:prstGeom>
          <a:solidFill>
            <a:srgbClr val="FFF7ED">
              <a:alpha val="100000"/>
            </a:srgbClr>
          </a:solidFill>
          <a:ln w="12700" cmpd="sng" cap="flat">
            <a:solidFill>
              <a:srgbClr val="FED7AA">
                <a:alpha val="10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2032000" y="4318000"/>
            <a:ext cx="37465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800">
                <a:solidFill>
                  <a:srgbClr val="C2410C"/>
                </a:solidFill>
                <a:latin typeface="Noto Sans SC"/>
                <a:ea typeface="Noto Sans SC"/>
                <a:cs typeface="Noto Sans SC"/>
                <a:sym typeface="Noto Sans SC"/>
              </a:rPr>
              <a:t>D. 应对 Reviewer 意见</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600"/>
              </a:spcBef>
            </a:pPr>
            <a:r>
              <a:rPr lang="en-US" b="false" i="false" strike="noStrike" u="none" sz="1200">
                <a:solidFill>
                  <a:srgbClr val="6B7280"/>
                </a:solidFill>
                <a:latin typeface="Noto Sans SC"/>
                <a:ea typeface="Noto Sans SC"/>
                <a:cs typeface="Noto Sans SC"/>
                <a:sym typeface="Noto Sans SC"/>
              </a:rPr>
              <a:t>意见尖锐，不知如何回应？需要逐一修改，工作量巨大？</a:t>
            </a:r>
          </a:p>
        </p:txBody>
      </p:sp>
      <p:sp>
        <p:nvSpPr>
          <p:cNvPr name="AutoShape 14" id="14"/>
          <p:cNvSpPr/>
          <p:nvPr/>
        </p:nvSpPr>
        <p:spPr>
          <a:xfrm rot="0" flipH="false" flipV="false">
            <a:off x="6286500" y="4191000"/>
            <a:ext cx="4000500" cy="1397000"/>
          </a:xfrm>
          <a:prstGeom prst="roundRect">
            <a:avLst>
              <a:gd name="adj" fmla="val 7272"/>
            </a:avLst>
          </a:prstGeom>
          <a:solidFill>
            <a:srgbClr val="FFF7ED">
              <a:alpha val="100000"/>
            </a:srgbClr>
          </a:solidFill>
          <a:ln w="12700" cmpd="sng" cap="flat">
            <a:solidFill>
              <a:srgbClr val="FED7AA">
                <a:alpha val="10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413500" y="4318000"/>
            <a:ext cx="37465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800">
                <a:solidFill>
                  <a:srgbClr val="C2410C"/>
                </a:solidFill>
                <a:latin typeface="Noto Sans SC"/>
                <a:ea typeface="Noto Sans SC"/>
                <a:cs typeface="Noto Sans SC"/>
                <a:sym typeface="Noto Sans SC"/>
              </a:rPr>
              <a:t>E. 排版、格式、投稿流程</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600"/>
              </a:spcBef>
            </a:pPr>
            <a:r>
              <a:rPr lang="en-US" b="false" i="false" strike="noStrike" u="none" sz="1200">
                <a:solidFill>
                  <a:srgbClr val="6B7280"/>
                </a:solidFill>
                <a:latin typeface="Noto Sans SC"/>
                <a:ea typeface="Noto Sans SC"/>
                <a:cs typeface="Noto Sans SC"/>
                <a:sym typeface="Noto Sans SC"/>
              </a:rPr>
              <a:t>调整图表、参考文献格式耗时耗力？期刊系统复杂，容易出错？</a:t>
            </a:r>
          </a:p>
        </p:txBody>
      </p:sp>
      <p:sp>
        <p:nvSpPr>
          <p:cNvPr name="AutoShape 16" id="16"/>
          <p:cNvSpPr/>
          <p:nvPr/>
        </p:nvSpPr>
        <p:spPr>
          <a:xfrm rot="0" flipH="false" flipV="false">
            <a:off x="508000" y="5842000"/>
            <a:ext cx="11176000" cy="762000"/>
          </a:xfrm>
          <a:prstGeom prst="roundRect">
            <a:avLst>
              <a:gd name="adj" fmla="val 16666"/>
            </a:avLst>
          </a:prstGeom>
          <a:solidFill>
            <a:srgbClr val="EFF6FF">
              <a:alpha val="100000"/>
            </a:srgbClr>
          </a:solidFill>
          <a:ln w="12700" cmpd="sng" cap="flat">
            <a:solidFill>
              <a:srgbClr val="93C5FD">
                <a:alpha val="10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35000" y="5969000"/>
            <a:ext cx="10922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500">
                <a:solidFill>
                  <a:srgbClr val="1F2937"/>
                </a:solidFill>
                <a:latin typeface="Noto Sans SC"/>
                <a:ea typeface="Noto Sans SC"/>
                <a:cs typeface="Noto Sans SC"/>
                <a:sym typeface="Noto Sans SC"/>
              </a:rPr>
              <a:t>无论你刚才举手选择了哪个选项，都代表了一个科研痛点。但今天我想告诉大家：</a:t>
            </a:r>
            <a:r>
              <a:rPr lang="en-US" b="true" i="false" strike="noStrike" u="none" sz="1500">
                <a:solidFill>
                  <a:srgbClr val="D92D20"/>
                </a:solidFill>
                <a:latin typeface="Noto Sans SC"/>
                <a:ea typeface="Noto Sans SC"/>
                <a:cs typeface="Noto Sans SC"/>
                <a:sym typeface="Noto Sans SC"/>
              </a:rPr>
              <a:t>你举手的那个阶段，在今天讲座结束后，很可能将不再是你的主要问题。</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10160000" y="254000"/>
            <a:ext cx="635000" cy="635000"/>
          </a:xfrm>
          <a:prstGeom prst="rect">
            <a:avLst/>
          </a:prstGeom>
          <a:noFill/>
          <a:ln w="25400" cmpd="sng" cap="flat">
            <a:noFill/>
            <a:prstDash val="solid"/>
            <a:round/>
          </a:ln>
        </p:spPr>
      </p:pic>
      <p:pic>
        <p:nvPicPr>
          <p:cNvPr name="Picture 3" id="3"/>
          <p:cNvPicPr>
            <a:picLocks noChangeAspect="true"/>
          </p:cNvPicPr>
          <p:nvPr/>
        </p:nvPicPr>
        <p:blipFill>
          <a:blip r:embed="rId3"/>
          <a:srcRect l="775" r="775" t="0" b="0"/>
          <a:stretch>
            <a:fillRect/>
          </a:stretch>
        </p:blipFill>
        <p:spPr>
          <a:xfrm rot="0" flipH="false" flipV="false">
            <a:off x="11176000" y="254000"/>
            <a:ext cx="635000" cy="635000"/>
          </a:xfrm>
          <a:prstGeom prst="rect">
            <a:avLst/>
          </a:prstGeom>
          <a:noFill/>
          <a:ln w="25400" cmpd="sng" cap="flat">
            <a:noFill/>
            <a:prstDash val="solid"/>
            <a:round/>
          </a:ln>
        </p:spPr>
      </p:pic>
      <p:sp>
        <p:nvSpPr>
          <p:cNvPr name="AutoShape 4" id="4"/>
          <p:cNvSpPr/>
          <p:nvPr/>
        </p:nvSpPr>
        <p:spPr>
          <a:xfrm rot="0" flipH="false" flipV="false">
            <a:off x="508000" y="508000"/>
            <a:ext cx="939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800">
                <a:solidFill>
                  <a:srgbClr val="133C9A"/>
                </a:solidFill>
                <a:latin typeface="Noto Sans SC"/>
                <a:ea typeface="Noto Sans SC"/>
                <a:cs typeface="Noto Sans SC"/>
                <a:sym typeface="Noto Sans SC"/>
              </a:rPr>
              <a:t>先看一个演示：AI如何成为你的“苛刻审稿人”</a:t>
            </a:r>
            <a:r>
              <a:rPr lang="en-US" b="false" i="false" strike="noStrike" u="none" sz="2000">
                <a:solidFill>
                  <a:srgbClr val="64748B"/>
                </a:solidFill>
                <a:latin typeface="Noto Sans SC"/>
                <a:ea typeface="Noto Sans SC"/>
                <a:cs typeface="Noto Sans SC"/>
                <a:sym typeface="Noto Sans SC"/>
              </a:rPr>
              <a:t>（现场操作演示）</a:t>
            </a:r>
            <a:endParaRPr lang="en-US" sz="1100"/>
          </a:p>
        </p:txBody>
      </p:sp>
      <p:sp>
        <p:nvSpPr>
          <p:cNvPr name="AutoShape 5" id="5"/>
          <p:cNvSpPr/>
          <p:nvPr/>
        </p:nvSpPr>
        <p:spPr>
          <a:xfrm rot="0" flipH="false" flipV="false">
            <a:off x="508000" y="1651000"/>
            <a:ext cx="5461000" cy="4572000"/>
          </a:xfrm>
          <a:prstGeom prst="roundRect">
            <a:avLst>
              <a:gd name="adj" fmla="val 3333"/>
            </a:avLst>
          </a:prstGeom>
          <a:solidFill>
            <a:srgbClr val="F1F5F9">
              <a:alpha val="100000"/>
            </a:srgbClr>
          </a:solidFill>
          <a:ln w="12700" cmpd="sng" cap="flat">
            <a:solidFill>
              <a:srgbClr val="E2E8F0">
                <a:alpha val="10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905000"/>
            <a:ext cx="4953000" cy="4064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600">
                <a:solidFill>
                  <a:srgbClr val="1F2329"/>
                </a:solidFill>
                <a:latin typeface="Noto Sans SC"/>
                <a:ea typeface="Noto Sans SC"/>
                <a:cs typeface="Noto Sans SC"/>
                <a:sym typeface="Noto Sans SC"/>
              </a:rPr>
              <a:t>场景还原：给AI的指令</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300">
                <a:solidFill>
                  <a:srgbClr val="475569"/>
                </a:solidFill>
                <a:latin typeface="Noto Sans SC"/>
                <a:ea typeface="Noto Sans SC"/>
                <a:cs typeface="Noto Sans SC"/>
                <a:sym typeface="Noto Sans SC"/>
              </a:rPr>
              <a:t>我截取了一篇已发表论文的引言，输入AI并提问：</a:t>
            </a:r>
            <a:r>
              <a:rPr lang="en-US" b="false" i="false" strike="noStrike" u="none" sz="1600">
                <a:solidFill>
                  <a:srgbClr val="1F2329"/>
                </a:solidFill>
                <a:latin typeface="Noto Sans SC"/>
                <a:ea typeface="Noto Sans SC"/>
                <a:cs typeface="Noto Sans SC"/>
                <a:sym typeface="Noto Sans SC"/>
              </a:rPr>
              <a:t/>
            </a:r>
          </a:p>
          <a:p>
            <a:pPr algn="l" indent="0">
              <a:lnSpc>
                <a:spcPct val="108333"/>
              </a:lnSpc>
              <a:spcBef>
                <a:spcPts val="400"/>
              </a:spcBef>
            </a:pPr>
            <a:r>
              <a:rPr lang="en-US" b="true" i="true" strike="noStrike" u="none" sz="1300">
                <a:solidFill>
                  <a:srgbClr val="133C9A"/>
                </a:solidFill>
                <a:latin typeface="Noto Sans SC"/>
                <a:ea typeface="Noto Sans SC"/>
                <a:cs typeface="Noto Sans SC"/>
                <a:sym typeface="Noto Sans SC"/>
              </a:rPr>
              <a:t>“你是一位顶级期刊的审稿人，请以极其苛刻的标准，详细指出这段引言在逻辑、论证和表达上的所有漏洞和不足之处。”</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ts val="1600"/>
              </a:spcBef>
            </a:pPr>
            <a:r>
              <a:rPr lang="en-US" b="true" i="false" strike="noStrike" u="none" sz="1600">
                <a:solidFill>
                  <a:srgbClr val="1F2329"/>
                </a:solidFill>
                <a:latin typeface="Noto Sans SC"/>
                <a:ea typeface="Noto Sans SC"/>
                <a:cs typeface="Noto Sans SC"/>
                <a:sym typeface="Noto Sans SC"/>
              </a:rPr>
              <a:t>演示启示：</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ts val="800"/>
              </a:spcBef>
            </a:pPr>
            <a:r>
              <a:rPr lang="en-US" b="false" i="false" strike="noStrike" u="none" sz="1300">
                <a:solidFill>
                  <a:srgbClr val="334155"/>
                </a:solidFill>
                <a:latin typeface="Noto Sans SC"/>
                <a:ea typeface="Noto Sans SC"/>
                <a:cs typeface="Noto Sans SC"/>
                <a:sym typeface="Noto Sans SC"/>
              </a:rPr>
              <a:t>AI的反馈往往犀利且精准，能客观指出逻辑跳跃、论据不足等问题。它已不再是简单的工具，而是能提供“挑剔视角”的</a:t>
            </a:r>
            <a:r>
              <a:rPr lang="en-US" b="true" i="false" strike="noStrike" u="none" sz="1300">
                <a:solidFill>
                  <a:srgbClr val="D97706"/>
                </a:solidFill>
                <a:latin typeface="Noto Sans SC"/>
                <a:ea typeface="Noto Sans SC"/>
                <a:cs typeface="Noto Sans SC"/>
                <a:sym typeface="Noto Sans SC"/>
              </a:rPr>
              <a:t>强大智能伙伴</a:t>
            </a:r>
            <a:r>
              <a:rPr lang="en-US" b="false" i="false" strike="noStrike" u="none" sz="1300">
                <a:solidFill>
                  <a:srgbClr val="334155"/>
                </a:solidFill>
                <a:latin typeface="Noto Sans SC"/>
                <a:ea typeface="Noto Sans SC"/>
                <a:cs typeface="Noto Sans SC"/>
                <a:sym typeface="Noto Sans SC"/>
              </a:rPr>
              <a:t>。</a:t>
            </a:r>
          </a:p>
        </p:txBody>
      </p:sp>
      <p:sp>
        <p:nvSpPr>
          <p:cNvPr name="AutoShape 7" id="7"/>
          <p:cNvSpPr/>
          <p:nvPr/>
        </p:nvSpPr>
        <p:spPr>
          <a:xfrm rot="0" flipH="false" flipV="false">
            <a:off x="6223000" y="1651000"/>
            <a:ext cx="5461000" cy="4572000"/>
          </a:xfrm>
          <a:prstGeom prst="roundRect">
            <a:avLst>
              <a:gd name="adj" fmla="val 3333"/>
            </a:avLst>
          </a:prstGeom>
          <a:solidFill>
            <a:srgbClr val="EFF6FF">
              <a:alpha val="100000"/>
            </a:srgbClr>
          </a:solidFill>
          <a:ln w="12700" cmpd="sng" cap="flat">
            <a:solidFill>
              <a:srgbClr val="BFDBFE">
                <a:alpha val="10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6477000" y="1905000"/>
            <a:ext cx="4953000" cy="406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400">
                <a:solidFill>
                  <a:srgbClr val="133C9A"/>
                </a:solidFill>
                <a:latin typeface="Noto Sans SC"/>
                <a:ea typeface="Noto Sans SC"/>
                <a:cs typeface="Noto Sans SC"/>
                <a:sym typeface="Noto Sans SC"/>
              </a:rPr>
              <a:t>好论文，不是等来的，是设计出来的。</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2400"/>
              </a:spcBef>
            </a:pPr>
            <a:r>
              <a:rPr lang="en-US" b="true" i="false" strike="noStrike" u="none" sz="1600">
                <a:solidFill>
                  <a:srgbClr val="1F2329"/>
                </a:solidFill>
                <a:latin typeface="Noto Sans SC"/>
                <a:ea typeface="Noto Sans SC"/>
                <a:cs typeface="Noto Sans SC"/>
                <a:sym typeface="Noto Sans SC"/>
              </a:rPr>
              <a:t>打破传统：用“工程思维”重塑写作</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ts val="1200"/>
              </a:spcBef>
            </a:pPr>
            <a:r>
              <a:rPr lang="en-US" b="false" i="false" strike="noStrike" u="none" sz="1300">
                <a:solidFill>
                  <a:srgbClr val="334155"/>
                </a:solidFill>
                <a:latin typeface="Noto Sans SC"/>
                <a:ea typeface="Noto Sans SC"/>
                <a:cs typeface="Noto Sans SC"/>
                <a:sym typeface="Noto Sans SC"/>
              </a:rPr>
              <a:t>不必苦等“灵感降临”，也不只是埋头苦干。论文写作完全可以看作是一个拥有清晰工序、严格质量控制、持续迭代优化的</a:t>
            </a:r>
            <a:r>
              <a:rPr lang="en-US" b="true" i="false" strike="noStrike" u="none" sz="1300">
                <a:solidFill>
                  <a:srgbClr val="334155"/>
                </a:solidFill>
                <a:latin typeface="Noto Sans SC"/>
                <a:ea typeface="Noto Sans SC"/>
                <a:cs typeface="Noto Sans SC"/>
                <a:sym typeface="Noto Sans SC"/>
              </a:rPr>
              <a:t>“工程项目”</a:t>
            </a:r>
            <a:r>
              <a:rPr lang="en-US" b="false" i="false" strike="noStrike" u="none" sz="1300">
                <a:solidFill>
                  <a:srgbClr val="334155"/>
                </a:solidFill>
                <a:latin typeface="Noto Sans SC"/>
                <a:ea typeface="Noto Sans SC"/>
                <a:cs typeface="Noto Sans SC"/>
                <a:sym typeface="Noto Sans SC"/>
              </a:rPr>
              <a:t>。</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ts val="1600"/>
              </a:spcBef>
            </a:pPr>
            <a:r>
              <a:rPr lang="en-US" b="true" i="false" strike="noStrike" u="none" sz="1300">
                <a:solidFill>
                  <a:srgbClr val="B45309"/>
                </a:solidFill>
                <a:latin typeface="Noto Sans SC"/>
                <a:ea typeface="Noto Sans SC"/>
                <a:cs typeface="Noto Sans SC"/>
                <a:sym typeface="Noto Sans SC"/>
              </a:rPr>
              <a:t>核心目标：</a:t>
            </a:r>
            <a:r>
              <a:rPr lang="en-US" b="false" i="false" strike="noStrike" u="none" sz="1300">
                <a:solidFill>
                  <a:srgbClr val="334155"/>
                </a:solidFill>
                <a:latin typeface="Noto Sans SC"/>
                <a:ea typeface="Noto Sans SC"/>
                <a:cs typeface="Noto Sans SC"/>
                <a:sym typeface="Noto Sans SC"/>
              </a:rPr>
              <a:t>运用工程方法论结合AI工具，系统化提升产出效率与文章质量。</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508000"/>
            <a:ext cx="8636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33C9A"/>
                </a:solidFill>
                <a:latin typeface="微软雅黑"/>
                <a:ea typeface="微软雅黑"/>
                <a:cs typeface="微软雅黑"/>
                <a:sym typeface="微软雅黑"/>
              </a:rPr>
              <a:t>将论文写作视为一项“工程项目”</a:t>
            </a:r>
            <a:endParaRPr lang="en-US" sz="1100"/>
          </a:p>
        </p:txBody>
      </p:sp>
      <p:pic>
        <p:nvPicPr>
          <p:cNvPr name="Picture 3" id="3"/>
          <p:cNvPicPr>
            <a:picLocks noChangeAspect="true"/>
          </p:cNvPicPr>
          <p:nvPr/>
        </p:nvPicPr>
        <p:blipFill>
          <a:blip r:embed="rId2"/>
          <a:srcRect l="0" r="0" t="0" b="0"/>
          <a:stretch>
            <a:fillRect/>
          </a:stretch>
        </p:blipFill>
        <p:spPr>
          <a:xfrm rot="0" flipH="false" flipV="false">
            <a:off x="9398000" y="444500"/>
            <a:ext cx="762000" cy="762000"/>
          </a:xfrm>
          <a:prstGeom prst="rect">
            <a:avLst/>
          </a:prstGeom>
          <a:noFill/>
          <a:ln w="25400" cmpd="sng" cap="flat">
            <a:noFill/>
            <a:prstDash val="solid"/>
            <a:round/>
          </a:ln>
        </p:spPr>
      </p:pic>
      <p:pic>
        <p:nvPicPr>
          <p:cNvPr name="Picture 4" id="4"/>
          <p:cNvPicPr>
            <a:picLocks noChangeAspect="true"/>
          </p:cNvPicPr>
          <p:nvPr/>
        </p:nvPicPr>
        <p:blipFill>
          <a:blip r:embed="rId3"/>
          <a:srcRect l="775" r="775" t="0" b="0"/>
          <a:stretch>
            <a:fillRect/>
          </a:stretch>
        </p:blipFill>
        <p:spPr>
          <a:xfrm rot="0" flipH="false" flipV="false">
            <a:off x="10541000" y="444500"/>
            <a:ext cx="762000" cy="762000"/>
          </a:xfrm>
          <a:prstGeom prst="rect">
            <a:avLst/>
          </a:prstGeom>
          <a:noFill/>
          <a:ln w="25400" cmpd="sng" cap="flat">
            <a:noFill/>
            <a:prstDash val="solid"/>
            <a:round/>
          </a:ln>
        </p:spPr>
      </p:pic>
      <p:sp>
        <p:nvSpPr>
          <p:cNvPr name="AutoShape 5" id="5"/>
          <p:cNvSpPr/>
          <p:nvPr/>
        </p:nvSpPr>
        <p:spPr>
          <a:xfrm rot="0" flipH="false" flipV="false">
            <a:off x="508000" y="1397000"/>
            <a:ext cx="11176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400">
                <a:solidFill>
                  <a:srgbClr val="525252"/>
                </a:solidFill>
                <a:latin typeface="Noto Sans SC"/>
                <a:ea typeface="Noto Sans SC"/>
                <a:cs typeface="Noto Sans SC"/>
                <a:sym typeface="Noto Sans SC"/>
              </a:rPr>
              <a:t>为了更好地理解“论文写作工程化”，我们可以将其与一个典型的工程项目进行类比，这有助于我们用全新的视角来解构和管理我们的研究工作。</a:t>
            </a:r>
            <a:endParaRPr lang="en-US" sz="1100"/>
          </a:p>
        </p:txBody>
      </p:sp>
      <p:sp>
        <p:nvSpPr>
          <p:cNvPr name="AutoShape 6" id="6"/>
          <p:cNvSpPr/>
          <p:nvPr/>
        </p:nvSpPr>
        <p:spPr>
          <a:xfrm rot="0" flipH="false" flipV="false">
            <a:off x="508000" y="2413000"/>
            <a:ext cx="2082800" cy="3175000"/>
          </a:xfrm>
          <a:prstGeom prst="roundRect">
            <a:avLst>
              <a:gd name="adj" fmla="val 4878"/>
            </a:avLst>
          </a:prstGeom>
          <a:solidFill>
            <a:srgbClr val="EFF6FF">
              <a:alpha val="100000"/>
            </a:srgbClr>
          </a:solidFill>
          <a:ln w="12700" cmpd="sng" cap="flat">
            <a:solidFill>
              <a:srgbClr val="BFDBFE">
                <a:alpha val="10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635000" y="2667000"/>
            <a:ext cx="1828800" cy="2667000"/>
          </a:xfrm>
          <a:prstGeom prst="rect">
            <a:avLst/>
          </a:prstGeom>
          <a:noFill/>
          <a:ln w="127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1600">
                <a:solidFill>
                  <a:srgbClr val="1E40AF"/>
                </a:solidFill>
                <a:latin typeface="微软雅黑"/>
                <a:ea typeface="微软雅黑"/>
                <a:cs typeface="微软雅黑"/>
                <a:sym typeface="微软雅黑"/>
              </a:rPr>
              <a:t>📦 交付物</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00000"/>
              </a:lnSpc>
              <a:spcBef>
                <a:spcPts val="1000"/>
              </a:spcBef>
            </a:pPr>
            <a:r>
              <a:rPr lang="en-US" b="true" i="false" strike="noStrike" u="none" sz="1200">
                <a:solidFill>
                  <a:srgbClr val="1F2937"/>
                </a:solidFill>
                <a:latin typeface="Noto Sans SC"/>
                <a:ea typeface="Noto Sans SC"/>
                <a:cs typeface="Noto Sans SC"/>
                <a:sym typeface="Noto Sans SC"/>
              </a:rPr>
              <a:t>一篇可发表的高质量论文</a:t>
            </a:r>
            <a:r>
              <a:rPr lang="en-US" b="false" i="false" strike="noStrike" u="none" sz="1600">
                <a:solidFill>
                  <a:srgbClr val="1F2329"/>
                </a:solidFill>
                <a:latin typeface="Noto Sans SC"/>
                <a:ea typeface="Noto Sans SC"/>
                <a:cs typeface="Noto Sans SC"/>
                <a:sym typeface="Noto Sans SC"/>
              </a:rPr>
              <a:t/>
            </a:r>
          </a:p>
          <a:p>
            <a:pPr algn="ctr" indent="0">
              <a:lnSpc>
                <a:spcPct val="108333"/>
              </a:lnSpc>
              <a:spcBef>
                <a:spcPts val="1200"/>
              </a:spcBef>
            </a:pPr>
            <a:r>
              <a:rPr lang="en-US" b="false" i="false" strike="noStrike" u="none" sz="1100">
                <a:solidFill>
                  <a:srgbClr val="6B7280"/>
                </a:solidFill>
                <a:latin typeface="Noto Sans SC"/>
                <a:ea typeface="Noto Sans SC"/>
                <a:cs typeface="Noto Sans SC"/>
                <a:sym typeface="Noto Sans SC"/>
              </a:rPr>
              <a:t>核心目标：</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100">
                <a:solidFill>
                  <a:srgbClr val="6B7280"/>
                </a:solidFill>
                <a:latin typeface="Noto Sans SC"/>
                <a:ea typeface="Noto Sans SC"/>
                <a:cs typeface="Noto Sans SC"/>
                <a:sym typeface="Noto Sans SC"/>
              </a:rPr>
              <a:t>明确、可衡量的最终产出，是整个工程的终点。</a:t>
            </a:r>
          </a:p>
        </p:txBody>
      </p:sp>
      <p:sp>
        <p:nvSpPr>
          <p:cNvPr name="AutoShape 8" id="8"/>
          <p:cNvSpPr/>
          <p:nvPr/>
        </p:nvSpPr>
        <p:spPr>
          <a:xfrm rot="0" flipH="false" flipV="false">
            <a:off x="2794000" y="2413000"/>
            <a:ext cx="2082800" cy="3175000"/>
          </a:xfrm>
          <a:prstGeom prst="roundRect">
            <a:avLst>
              <a:gd name="adj" fmla="val 4878"/>
            </a:avLst>
          </a:prstGeom>
          <a:solidFill>
            <a:srgbClr val="F0FDF4">
              <a:alpha val="100000"/>
            </a:srgbClr>
          </a:solidFill>
          <a:ln w="12700" cmpd="sng" cap="flat">
            <a:solidFill>
              <a:srgbClr val="BBF7D0">
                <a:alpha val="10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2921000" y="2667000"/>
            <a:ext cx="1828800" cy="2667000"/>
          </a:xfrm>
          <a:prstGeom prst="rect">
            <a:avLst/>
          </a:prstGeom>
          <a:noFill/>
          <a:ln w="127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1600">
                <a:solidFill>
                  <a:srgbClr val="15803D"/>
                </a:solidFill>
                <a:latin typeface="微软雅黑"/>
                <a:ea typeface="微软雅黑"/>
                <a:cs typeface="微软雅黑"/>
                <a:sym typeface="微软雅黑"/>
              </a:rPr>
              <a:t>📋 工序阶段</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00000"/>
              </a:lnSpc>
              <a:spcBef>
                <a:spcPts val="1000"/>
              </a:spcBef>
            </a:pPr>
            <a:r>
              <a:rPr lang="en-US" b="true" i="false" strike="noStrike" u="none" sz="1200">
                <a:solidFill>
                  <a:srgbClr val="1F2937"/>
                </a:solidFill>
                <a:latin typeface="Noto Sans SC"/>
                <a:ea typeface="Noto Sans SC"/>
                <a:cs typeface="Noto Sans SC"/>
                <a:sym typeface="Noto Sans SC"/>
              </a:rPr>
              <a:t>选题 → 实验 → 写作 → 投稿</a:t>
            </a:r>
            <a:r>
              <a:rPr lang="en-US" b="false" i="false" strike="noStrike" u="none" sz="1600">
                <a:solidFill>
                  <a:srgbClr val="1F2329"/>
                </a:solidFill>
                <a:latin typeface="Noto Sans SC"/>
                <a:ea typeface="Noto Sans SC"/>
                <a:cs typeface="Noto Sans SC"/>
                <a:sym typeface="Noto Sans SC"/>
              </a:rPr>
              <a:t/>
            </a:r>
          </a:p>
          <a:p>
            <a:pPr algn="ctr" indent="0">
              <a:lnSpc>
                <a:spcPct val="108333"/>
              </a:lnSpc>
              <a:spcBef>
                <a:spcPts val="1200"/>
              </a:spcBef>
            </a:pPr>
            <a:r>
              <a:rPr lang="en-US" b="false" i="false" strike="noStrike" u="none" sz="1100">
                <a:solidFill>
                  <a:srgbClr val="6B7280"/>
                </a:solidFill>
                <a:latin typeface="Noto Sans SC"/>
                <a:ea typeface="Noto Sans SC"/>
                <a:cs typeface="Noto Sans SC"/>
                <a:sym typeface="Noto Sans SC"/>
              </a:rPr>
              <a:t>核心目标：</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100">
                <a:solidFill>
                  <a:srgbClr val="6B7280"/>
                </a:solidFill>
                <a:latin typeface="Noto Sans SC"/>
                <a:ea typeface="Noto Sans SC"/>
                <a:cs typeface="Noto Sans SC"/>
                <a:sym typeface="Noto Sans SC"/>
              </a:rPr>
              <a:t>将复杂的科研任务，科学分解为有序、可控的步骤。</a:t>
            </a:r>
          </a:p>
        </p:txBody>
      </p:sp>
      <p:sp>
        <p:nvSpPr>
          <p:cNvPr name="AutoShape 10" id="10"/>
          <p:cNvSpPr/>
          <p:nvPr/>
        </p:nvSpPr>
        <p:spPr>
          <a:xfrm rot="0" flipH="false" flipV="false">
            <a:off x="5080000" y="2413000"/>
            <a:ext cx="2082800" cy="3175000"/>
          </a:xfrm>
          <a:prstGeom prst="roundRect">
            <a:avLst>
              <a:gd name="adj" fmla="val 4878"/>
            </a:avLst>
          </a:prstGeom>
          <a:solidFill>
            <a:srgbClr val="FFF7ED">
              <a:alpha val="100000"/>
            </a:srgbClr>
          </a:solidFill>
          <a:ln w="12700" cmpd="sng" cap="flat">
            <a:solidFill>
              <a:srgbClr val="FED7AA">
                <a:alpha val="10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5207000" y="2667000"/>
            <a:ext cx="1828800" cy="2667000"/>
          </a:xfrm>
          <a:prstGeom prst="rect">
            <a:avLst/>
          </a:prstGeom>
          <a:noFill/>
          <a:ln w="127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1600">
                <a:solidFill>
                  <a:srgbClr val="C2410C"/>
                </a:solidFill>
                <a:latin typeface="微软雅黑"/>
                <a:ea typeface="微软雅黑"/>
                <a:cs typeface="微软雅黑"/>
                <a:sym typeface="微软雅黑"/>
              </a:rPr>
              <a:t>🛡️ 质量控制</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00000"/>
              </a:lnSpc>
              <a:spcBef>
                <a:spcPts val="1000"/>
              </a:spcBef>
            </a:pPr>
            <a:r>
              <a:rPr lang="en-US" b="true" i="false" strike="noStrike" u="none" sz="1200">
                <a:solidFill>
                  <a:srgbClr val="1F2937"/>
                </a:solidFill>
                <a:latin typeface="Noto Sans SC"/>
                <a:ea typeface="Noto Sans SC"/>
                <a:cs typeface="Noto Sans SC"/>
                <a:sym typeface="Noto Sans SC"/>
              </a:rPr>
              <a:t>导师审阅 / 期刊审稿意见</a:t>
            </a:r>
            <a:r>
              <a:rPr lang="en-US" b="false" i="false" strike="noStrike" u="none" sz="1600">
                <a:solidFill>
                  <a:srgbClr val="1F2329"/>
                </a:solidFill>
                <a:latin typeface="Noto Sans SC"/>
                <a:ea typeface="Noto Sans SC"/>
                <a:cs typeface="Noto Sans SC"/>
                <a:sym typeface="Noto Sans SC"/>
              </a:rPr>
              <a:t/>
            </a:r>
          </a:p>
          <a:p>
            <a:pPr algn="ctr" indent="0">
              <a:lnSpc>
                <a:spcPct val="108333"/>
              </a:lnSpc>
              <a:spcBef>
                <a:spcPts val="1200"/>
              </a:spcBef>
            </a:pPr>
            <a:r>
              <a:rPr lang="en-US" b="false" i="false" strike="noStrike" u="none" sz="1100">
                <a:solidFill>
                  <a:srgbClr val="6B7280"/>
                </a:solidFill>
                <a:latin typeface="Noto Sans SC"/>
                <a:ea typeface="Noto Sans SC"/>
                <a:cs typeface="Noto Sans SC"/>
                <a:sym typeface="Noto Sans SC"/>
              </a:rPr>
              <a:t>核心目标：</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100">
                <a:solidFill>
                  <a:srgbClr val="6B7280"/>
                </a:solidFill>
                <a:latin typeface="Noto Sans SC"/>
                <a:ea typeface="Noto Sans SC"/>
                <a:cs typeface="Noto Sans SC"/>
                <a:sym typeface="Noto Sans SC"/>
              </a:rPr>
              <a:t>在关键节点引入外部评估，及时纠偏，确保产出质量。</a:t>
            </a:r>
          </a:p>
        </p:txBody>
      </p:sp>
      <p:sp>
        <p:nvSpPr>
          <p:cNvPr name="AutoShape 12" id="12"/>
          <p:cNvSpPr/>
          <p:nvPr/>
        </p:nvSpPr>
        <p:spPr>
          <a:xfrm rot="0" flipH="false" flipV="false">
            <a:off x="7366000" y="2413000"/>
            <a:ext cx="2082800" cy="3175000"/>
          </a:xfrm>
          <a:prstGeom prst="roundRect">
            <a:avLst>
              <a:gd name="adj" fmla="val 4878"/>
            </a:avLst>
          </a:prstGeom>
          <a:solidFill>
            <a:srgbClr val="FAF5FF">
              <a:alpha val="100000"/>
            </a:srgbClr>
          </a:solidFill>
          <a:ln w="12700" cmpd="sng" cap="flat">
            <a:solidFill>
              <a:srgbClr val="E9D5FF">
                <a:alpha val="10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7493000" y="2667000"/>
            <a:ext cx="1828800" cy="2667000"/>
          </a:xfrm>
          <a:prstGeom prst="rect">
            <a:avLst/>
          </a:prstGeom>
          <a:noFill/>
          <a:ln w="127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1600">
                <a:solidFill>
                  <a:srgbClr val="7E22CE"/>
                </a:solidFill>
                <a:latin typeface="微软雅黑"/>
                <a:ea typeface="微软雅黑"/>
                <a:cs typeface="微软雅黑"/>
                <a:sym typeface="微软雅黑"/>
              </a:rPr>
              <a:t>🔄 迭代优化</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00000"/>
              </a:lnSpc>
              <a:spcBef>
                <a:spcPts val="1000"/>
              </a:spcBef>
            </a:pPr>
            <a:r>
              <a:rPr lang="en-US" b="true" i="false" strike="noStrike" u="none" sz="1200">
                <a:solidFill>
                  <a:srgbClr val="1F2937"/>
                </a:solidFill>
                <a:latin typeface="Noto Sans SC"/>
                <a:ea typeface="Noto Sans SC"/>
                <a:cs typeface="Noto Sans SC"/>
                <a:sym typeface="Noto Sans SC"/>
              </a:rPr>
              <a:t>修改-重投循环 (Revision)</a:t>
            </a:r>
            <a:r>
              <a:rPr lang="en-US" b="false" i="false" strike="noStrike" u="none" sz="1600">
                <a:solidFill>
                  <a:srgbClr val="1F2329"/>
                </a:solidFill>
                <a:latin typeface="Noto Sans SC"/>
                <a:ea typeface="Noto Sans SC"/>
                <a:cs typeface="Noto Sans SC"/>
                <a:sym typeface="Noto Sans SC"/>
              </a:rPr>
              <a:t/>
            </a:r>
          </a:p>
          <a:p>
            <a:pPr algn="ctr" indent="0">
              <a:lnSpc>
                <a:spcPct val="108333"/>
              </a:lnSpc>
              <a:spcBef>
                <a:spcPts val="1200"/>
              </a:spcBef>
            </a:pPr>
            <a:r>
              <a:rPr lang="en-US" b="false" i="false" strike="noStrike" u="none" sz="1100">
                <a:solidFill>
                  <a:srgbClr val="6B7280"/>
                </a:solidFill>
                <a:latin typeface="Noto Sans SC"/>
                <a:ea typeface="Noto Sans SC"/>
                <a:cs typeface="Noto Sans SC"/>
                <a:sym typeface="Noto Sans SC"/>
              </a:rPr>
              <a:t>核心目标：</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100">
                <a:solidFill>
                  <a:srgbClr val="6B7280"/>
                </a:solidFill>
                <a:latin typeface="Noto Sans SC"/>
                <a:ea typeface="Noto Sans SC"/>
                <a:cs typeface="Noto Sans SC"/>
                <a:sym typeface="Noto Sans SC"/>
              </a:rPr>
              <a:t>将拒稿和修改视为改进机会，持续提升论文的科学性。</a:t>
            </a:r>
          </a:p>
        </p:txBody>
      </p:sp>
      <p:sp>
        <p:nvSpPr>
          <p:cNvPr name="AutoShape 14" id="14"/>
          <p:cNvSpPr/>
          <p:nvPr/>
        </p:nvSpPr>
        <p:spPr>
          <a:xfrm rot="0" flipH="false" flipV="false">
            <a:off x="9652000" y="2413000"/>
            <a:ext cx="2082800" cy="3175000"/>
          </a:xfrm>
          <a:prstGeom prst="roundRect">
            <a:avLst>
              <a:gd name="adj" fmla="val 4878"/>
            </a:avLst>
          </a:prstGeom>
          <a:solidFill>
            <a:srgbClr val="ECFEFF">
              <a:alpha val="100000"/>
            </a:srgbClr>
          </a:solidFill>
          <a:ln w="12700" cmpd="sng" cap="flat">
            <a:solidFill>
              <a:srgbClr val="A5F3FC">
                <a:alpha val="10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9779000" y="2667000"/>
            <a:ext cx="1828800" cy="2667000"/>
          </a:xfrm>
          <a:prstGeom prst="rect">
            <a:avLst/>
          </a:prstGeom>
          <a:noFill/>
          <a:ln w="127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1600">
                <a:solidFill>
                  <a:srgbClr val="0891B2"/>
                </a:solidFill>
                <a:latin typeface="微软雅黑"/>
                <a:ea typeface="微软雅黑"/>
                <a:cs typeface="微软雅黑"/>
                <a:sym typeface="微软雅黑"/>
              </a:rPr>
              <a:t>🛠️ 工具与技术</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00000"/>
              </a:lnSpc>
              <a:spcBef>
                <a:spcPts val="1000"/>
              </a:spcBef>
            </a:pPr>
            <a:r>
              <a:rPr lang="en-US" b="true" i="false" strike="noStrike" u="none" sz="1200">
                <a:solidFill>
                  <a:srgbClr val="1F2937"/>
                </a:solidFill>
                <a:latin typeface="Noto Sans SC"/>
                <a:ea typeface="Noto Sans SC"/>
                <a:cs typeface="Noto Sans SC"/>
                <a:sym typeface="Noto Sans SC"/>
              </a:rPr>
              <a:t>文献管理 / 数据分析 / AI辅助</a:t>
            </a:r>
            <a:r>
              <a:rPr lang="en-US" b="false" i="false" strike="noStrike" u="none" sz="1600">
                <a:solidFill>
                  <a:srgbClr val="1F2329"/>
                </a:solidFill>
                <a:latin typeface="Noto Sans SC"/>
                <a:ea typeface="Noto Sans SC"/>
                <a:cs typeface="Noto Sans SC"/>
                <a:sym typeface="Noto Sans SC"/>
              </a:rPr>
              <a:t/>
            </a:r>
          </a:p>
          <a:p>
            <a:pPr algn="ctr" indent="0">
              <a:lnSpc>
                <a:spcPct val="108333"/>
              </a:lnSpc>
              <a:spcBef>
                <a:spcPts val="1200"/>
              </a:spcBef>
            </a:pPr>
            <a:r>
              <a:rPr lang="en-US" b="false" i="false" strike="noStrike" u="none" sz="1100">
                <a:solidFill>
                  <a:srgbClr val="6B7280"/>
                </a:solidFill>
                <a:latin typeface="Noto Sans SC"/>
                <a:ea typeface="Noto Sans SC"/>
                <a:cs typeface="Noto Sans SC"/>
                <a:sym typeface="Noto Sans SC"/>
              </a:rPr>
              <a:t>核心目标：</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100">
                <a:solidFill>
                  <a:srgbClr val="6B7280"/>
                </a:solidFill>
                <a:latin typeface="Noto Sans SC"/>
                <a:ea typeface="Noto Sans SC"/>
                <a:cs typeface="Noto Sans SC"/>
                <a:sym typeface="Noto Sans SC"/>
              </a:rPr>
              <a:t>善用工具提升各环节效率，用技术手段规避低级错误。</a:t>
            </a:r>
          </a:p>
        </p:txBody>
      </p:sp>
      <p:sp>
        <p:nvSpPr>
          <p:cNvPr name="AutoShape 16" id="16"/>
          <p:cNvSpPr/>
          <p:nvPr/>
        </p:nvSpPr>
        <p:spPr>
          <a:xfrm rot="0" flipH="false" flipV="false">
            <a:off x="508000" y="5842000"/>
            <a:ext cx="11226800" cy="762000"/>
          </a:xfrm>
          <a:prstGeom prst="roundRect">
            <a:avLst>
              <a:gd name="adj" fmla="val 20000"/>
            </a:avLst>
          </a:prstGeom>
          <a:solidFill>
            <a:srgbClr val="F8FAFC">
              <a:alpha val="100000"/>
            </a:srgbClr>
          </a:solidFill>
          <a:ln w="12700" cmpd="sng" cap="flat">
            <a:solidFill>
              <a:srgbClr val="E2E8F0">
                <a:alpha val="10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35000" y="5969000"/>
            <a:ext cx="109728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374151"/>
                </a:solidFill>
                <a:latin typeface="Noto Sans SC"/>
                <a:ea typeface="Noto Sans SC"/>
                <a:cs typeface="Noto Sans SC"/>
                <a:sym typeface="Noto Sans SC"/>
              </a:rPr>
              <a:t>结论：论文写作并非一个模糊、随性的过程，而是一个可以被规划、管理、并不断优化的</a:t>
            </a:r>
            <a:r>
              <a:rPr lang="en-US" b="true" i="false" strike="noStrike" u="none" sz="1400">
                <a:solidFill>
                  <a:srgbClr val="133C9A"/>
                </a:solidFill>
                <a:latin typeface="Noto Sans SC"/>
                <a:ea typeface="Noto Sans SC"/>
                <a:cs typeface="Noto Sans SC"/>
                <a:sym typeface="Noto Sans SC"/>
              </a:rPr>
              <a:t>系统性工程</a:t>
            </a:r>
            <a:r>
              <a:rPr lang="en-US" b="true" i="false" strike="noStrike" u="none" sz="1400">
                <a:solidFill>
                  <a:srgbClr val="374151"/>
                </a:solidFill>
                <a:latin typeface="Noto Sans SC"/>
                <a:ea typeface="Noto Sans SC"/>
                <a:cs typeface="Noto Sans SC"/>
                <a:sym typeface="Noto Sans SC"/>
              </a:rPr>
              <a:t>。</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09600" y="508000"/>
            <a:ext cx="914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800">
                <a:solidFill>
                  <a:srgbClr val="0047AB"/>
                </a:solidFill>
                <a:latin typeface="Noto Sans SC"/>
                <a:ea typeface="Noto Sans SC"/>
                <a:cs typeface="Noto Sans SC"/>
                <a:sym typeface="Noto Sans SC"/>
              </a:rPr>
              <a:t>引入“流程控制反馈环”，让AI成为你的“智能监管”</a:t>
            </a:r>
            <a:endParaRPr lang="en-US" sz="1100"/>
          </a:p>
        </p:txBody>
      </p:sp>
      <p:pic>
        <p:nvPicPr>
          <p:cNvPr name="Picture 3" id="3"/>
          <p:cNvPicPr>
            <a:picLocks noChangeAspect="true"/>
          </p:cNvPicPr>
          <p:nvPr/>
        </p:nvPicPr>
        <p:blipFill>
          <a:blip r:embed="rId2"/>
          <a:srcRect l="0" r="0" t="0" b="0"/>
          <a:stretch>
            <a:fillRect/>
          </a:stretch>
        </p:blipFill>
        <p:spPr>
          <a:xfrm rot="0" flipH="false" flipV="false">
            <a:off x="9906000" y="444500"/>
            <a:ext cx="825500" cy="825500"/>
          </a:xfrm>
          <a:prstGeom prst="rect">
            <a:avLst/>
          </a:prstGeom>
          <a:noFill/>
          <a:ln w="25400" cmpd="sng" cap="flat">
            <a:noFill/>
            <a:prstDash val="solid"/>
            <a:round/>
          </a:ln>
        </p:spPr>
      </p:pic>
      <p:pic>
        <p:nvPicPr>
          <p:cNvPr name="Picture 4" id="4"/>
          <p:cNvPicPr>
            <a:picLocks noChangeAspect="true"/>
          </p:cNvPicPr>
          <p:nvPr/>
        </p:nvPicPr>
        <p:blipFill>
          <a:blip r:embed="rId3"/>
          <a:srcRect l="775" r="775" t="0" b="0"/>
          <a:stretch>
            <a:fillRect/>
          </a:stretch>
        </p:blipFill>
        <p:spPr>
          <a:xfrm rot="0" flipH="false" flipV="false">
            <a:off x="10985500" y="444500"/>
            <a:ext cx="825500" cy="825500"/>
          </a:xfrm>
          <a:prstGeom prst="rect">
            <a:avLst/>
          </a:prstGeom>
          <a:noFill/>
          <a:ln w="25400" cmpd="sng" cap="flat">
            <a:noFill/>
            <a:prstDash val="solid"/>
            <a:round/>
          </a:ln>
        </p:spPr>
      </p:pic>
      <p:sp>
        <p:nvSpPr>
          <p:cNvPr name="AutoShape 5" id="5"/>
          <p:cNvSpPr/>
          <p:nvPr/>
        </p:nvSpPr>
        <p:spPr>
          <a:xfrm rot="0" flipH="false" flipV="false">
            <a:off x="609600" y="1778000"/>
            <a:ext cx="5334000" cy="4572000"/>
          </a:xfrm>
          <a:prstGeom prst="roundRect">
            <a:avLst>
              <a:gd name="adj" fmla="val 3333"/>
            </a:avLst>
          </a:prstGeom>
          <a:solidFill>
            <a:srgbClr val="F0F9FF">
              <a:alpha val="100000"/>
            </a:srgbClr>
          </a:solidFill>
          <a:ln w="12700" cmpd="sng" cap="flat">
            <a:solidFill>
              <a:srgbClr val="BAE6FD">
                <a:alpha val="10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863600" y="2032000"/>
            <a:ext cx="4826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400">
                <a:solidFill>
                  <a:srgbClr val="374151"/>
                </a:solidFill>
                <a:latin typeface="Noto Sans SC"/>
                <a:ea typeface="Noto Sans SC"/>
                <a:cs typeface="Noto Sans SC"/>
                <a:sym typeface="Noto Sans SC"/>
              </a:rPr>
              <a:t>在工程学中，反馈控制是保证系统稳定运行和达到目标的核心机制。我们可以将这一思想引入论文写作，构建一个由AI驱动的</a:t>
            </a:r>
            <a:r>
              <a:rPr lang="en-US" b="true" i="false" strike="noStrike" u="none" sz="1500">
                <a:solidFill>
                  <a:srgbClr val="D97706"/>
                </a:solidFill>
                <a:latin typeface="Noto Sans SC"/>
                <a:ea typeface="Noto Sans SC"/>
                <a:cs typeface="Noto Sans SC"/>
                <a:sym typeface="Noto Sans SC"/>
              </a:rPr>
              <a:t>“流程控制反馈环”</a:t>
            </a:r>
            <a:r>
              <a:rPr lang="en-US" b="false" i="false" strike="noStrike" u="none" sz="1400">
                <a:solidFill>
                  <a:srgbClr val="374151"/>
                </a:solidFill>
                <a:latin typeface="Noto Sans SC"/>
                <a:ea typeface="Noto Sans SC"/>
                <a:cs typeface="Noto Sans SC"/>
                <a:sym typeface="Noto Sans SC"/>
              </a:rPr>
              <a:t>，把模糊、滞后的反馈转变为即时、量化的指导。</a:t>
            </a:r>
            <a:endParaRPr lang="en-US" sz="1100"/>
          </a:p>
        </p:txBody>
      </p:sp>
      <p:sp>
        <p:nvSpPr>
          <p:cNvPr name="AutoShape 7" id="7"/>
          <p:cNvSpPr/>
          <p:nvPr/>
        </p:nvSpPr>
        <p:spPr>
          <a:xfrm rot="0" flipH="false" flipV="false">
            <a:off x="863600" y="3302000"/>
            <a:ext cx="4826000" cy="2286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defRPr/>
            </a:pPr>
            <a:r>
              <a:rPr lang="en-US" b="true" i="false" strike="noStrike" u="none" sz="1500">
                <a:solidFill>
                  <a:srgbClr val="1E3A8A"/>
                </a:solidFill>
                <a:latin typeface="Noto Sans SC"/>
                <a:ea typeface="Noto Sans SC"/>
                <a:cs typeface="Noto Sans SC"/>
                <a:sym typeface="Noto Sans SC"/>
              </a:rPr>
              <a:t>▌ 闭环三大角色：</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pPr>
            <a:r>
              <a:rPr lang="en-US" b="true" i="false" strike="noStrike" u="none" sz="1300">
                <a:solidFill>
                  <a:srgbClr val="1F2937"/>
                </a:solidFill>
                <a:latin typeface="Noto Sans SC"/>
                <a:ea typeface="Noto Sans SC"/>
                <a:cs typeface="Noto Sans SC"/>
                <a:sym typeface="Noto Sans SC"/>
              </a:rPr>
              <a:t>· 传感器 (Sensor)：</a:t>
            </a:r>
            <a:r>
              <a:rPr lang="en-US" b="false" i="false" strike="noStrike" u="none" sz="1300">
                <a:solidFill>
                  <a:srgbClr val="4B5563"/>
                </a:solidFill>
                <a:latin typeface="Noto Sans SC"/>
                <a:ea typeface="Noto Sans SC"/>
                <a:cs typeface="Noto Sans SC"/>
                <a:sym typeface="Noto Sans SC"/>
              </a:rPr>
              <a:t>AI工具实时检测工作“输出”，分析文本质量、逻辑与格式。</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true" i="false" strike="noStrike" u="none" sz="1300">
                <a:solidFill>
                  <a:srgbClr val="1F2937"/>
                </a:solidFill>
                <a:latin typeface="Noto Sans SC"/>
                <a:ea typeface="Noto Sans SC"/>
                <a:cs typeface="Noto Sans SC"/>
                <a:sym typeface="Noto Sans SC"/>
              </a:rPr>
              <a:t>· 执行器 (Actuator)：</a:t>
            </a:r>
            <a:r>
              <a:rPr lang="en-US" b="false" i="false" strike="noStrike" u="none" sz="1300">
                <a:solidFill>
                  <a:srgbClr val="4B5563"/>
                </a:solidFill>
                <a:latin typeface="Noto Sans SC"/>
                <a:ea typeface="Noto Sans SC"/>
                <a:cs typeface="Noto Sans SC"/>
                <a:sym typeface="Noto Sans SC"/>
              </a:rPr>
              <a:t>AI辅助完成任务，并基于反馈生成修正建议。</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true" i="false" strike="noStrike" u="none" sz="1300">
                <a:solidFill>
                  <a:srgbClr val="1F2937"/>
                </a:solidFill>
                <a:latin typeface="Noto Sans SC"/>
                <a:ea typeface="Noto Sans SC"/>
                <a:cs typeface="Noto Sans SC"/>
                <a:sym typeface="Noto Sans SC"/>
              </a:rPr>
              <a:t>· 控制目标 (Control Goal)：</a:t>
            </a:r>
            <a:r>
              <a:rPr lang="en-US" b="false" i="false" strike="noStrike" u="none" sz="1300">
                <a:solidFill>
                  <a:srgbClr val="4B5563"/>
                </a:solidFill>
                <a:latin typeface="Noto Sans SC"/>
                <a:ea typeface="Noto Sans SC"/>
                <a:cs typeface="Noto Sans SC"/>
                <a:sym typeface="Noto Sans SC"/>
              </a:rPr>
              <a:t>这始终由你来定义，AI只是帮你更高效、精准地达成目标。</a:t>
            </a:r>
          </a:p>
        </p:txBody>
      </p:sp>
      <p:sp>
        <p:nvSpPr>
          <p:cNvPr name="AutoShape 8" id="8"/>
          <p:cNvSpPr/>
          <p:nvPr/>
        </p:nvSpPr>
        <p:spPr>
          <a:xfrm rot="0" flipH="false" flipV="false">
            <a:off x="6248400" y="1778000"/>
            <a:ext cx="5334000" cy="4572000"/>
          </a:xfrm>
          <a:prstGeom prst="roundRect">
            <a:avLst>
              <a:gd name="adj" fmla="val 3333"/>
            </a:avLst>
          </a:prstGeom>
          <a:solidFill>
            <a:srgbClr val="FFFBEB">
              <a:alpha val="100000"/>
            </a:srgbClr>
          </a:solidFill>
          <a:ln w="12700" cmpd="sng" cap="flat">
            <a:solidFill>
              <a:srgbClr val="FDE68A">
                <a:alpha val="10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502400" y="2032000"/>
            <a:ext cx="4826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B45309"/>
                </a:solidFill>
                <a:latin typeface="Noto Sans SC"/>
                <a:ea typeface="Noto Sans SC"/>
                <a:cs typeface="Noto Sans SC"/>
                <a:sym typeface="Noto Sans SC"/>
              </a:rPr>
              <a:t>流程控制反馈环逻辑</a:t>
            </a:r>
            <a:endParaRPr lang="en-US" sz="1100"/>
          </a:p>
        </p:txBody>
      </p:sp>
      <p:sp>
        <p:nvSpPr>
          <p:cNvPr name="AutoShape 10" id="10"/>
          <p:cNvSpPr/>
          <p:nvPr/>
        </p:nvSpPr>
        <p:spPr>
          <a:xfrm rot="0" flipH="false" flipV="false">
            <a:off x="6502400" y="2794000"/>
            <a:ext cx="2286000" cy="1016000"/>
          </a:xfrm>
          <a:prstGeom prst="roundRect">
            <a:avLst>
              <a:gd name="adj" fmla="val 10000"/>
            </a:avLst>
          </a:prstGeom>
          <a:solidFill>
            <a:srgbClr val="FFFFFF">
              <a:alpha val="100000"/>
            </a:srgbClr>
          </a:solidFill>
          <a:ln w="12700" cmpd="sng" cap="flat">
            <a:solidFill>
              <a:srgbClr val="D1D5D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629400" y="2921000"/>
            <a:ext cx="2032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1F2937"/>
                </a:solidFill>
                <a:latin typeface="Noto Sans SC"/>
                <a:ea typeface="Noto Sans SC"/>
                <a:cs typeface="Noto Sans SC"/>
                <a:sym typeface="Noto Sans SC"/>
              </a:rPr>
              <a:t>01 设定目标 &amp; 执行</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100">
                <a:solidFill>
                  <a:srgbClr val="6B7280"/>
                </a:solidFill>
                <a:latin typeface="Noto Sans SC"/>
                <a:ea typeface="Noto Sans SC"/>
                <a:cs typeface="Noto Sans SC"/>
                <a:sym typeface="Noto Sans SC"/>
              </a:rPr>
              <a:t>确定写作任务（如引言初稿）</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100">
                <a:solidFill>
                  <a:srgbClr val="6B7280"/>
                </a:solidFill>
                <a:latin typeface="Noto Sans SC"/>
                <a:ea typeface="Noto Sans SC"/>
                <a:cs typeface="Noto Sans SC"/>
                <a:sym typeface="Noto Sans SC"/>
              </a:rPr>
              <a:t>人工撰写文本内容</a:t>
            </a:r>
          </a:p>
        </p:txBody>
      </p:sp>
      <p:sp>
        <p:nvSpPr>
          <p:cNvPr name="AutoShape 12" id="12"/>
          <p:cNvSpPr/>
          <p:nvPr/>
        </p:nvSpPr>
        <p:spPr>
          <a:xfrm rot="0" flipH="false" flipV="false">
            <a:off x="9042400" y="2794000"/>
            <a:ext cx="2286000" cy="1016000"/>
          </a:xfrm>
          <a:prstGeom prst="roundRect">
            <a:avLst>
              <a:gd name="adj" fmla="val 10000"/>
            </a:avLst>
          </a:prstGeom>
          <a:solidFill>
            <a:srgbClr val="FFFFFF">
              <a:alpha val="100000"/>
            </a:srgbClr>
          </a:solidFill>
          <a:ln w="12700" cmpd="sng" cap="flat">
            <a:solidFill>
              <a:srgbClr val="D1D5D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9169400" y="2921000"/>
            <a:ext cx="2032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1F2937"/>
                </a:solidFill>
                <a:latin typeface="Noto Sans SC"/>
                <a:ea typeface="Noto Sans SC"/>
                <a:cs typeface="Noto Sans SC"/>
                <a:sym typeface="Noto Sans SC"/>
              </a:rPr>
              <a:t>02 AI 智能检测</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100">
                <a:solidFill>
                  <a:srgbClr val="6B7280"/>
                </a:solidFill>
                <a:latin typeface="Noto Sans SC"/>
                <a:ea typeface="Noto Sans SC"/>
                <a:cs typeface="Noto Sans SC"/>
                <a:sym typeface="Noto Sans SC"/>
              </a:rPr>
              <a:t>分析文本逻辑漏洞、语法错误</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100">
                <a:solidFill>
                  <a:srgbClr val="6B7280"/>
                </a:solidFill>
                <a:latin typeface="Noto Sans SC"/>
                <a:ea typeface="Noto Sans SC"/>
                <a:cs typeface="Noto Sans SC"/>
                <a:sym typeface="Noto Sans SC"/>
              </a:rPr>
              <a:t>识别与目标的偏差</a:t>
            </a:r>
          </a:p>
        </p:txBody>
      </p:sp>
      <p:sp>
        <p:nvSpPr>
          <p:cNvPr name="AutoShape 14" id="14"/>
          <p:cNvSpPr/>
          <p:nvPr/>
        </p:nvSpPr>
        <p:spPr>
          <a:xfrm rot="0" flipH="false" flipV="false">
            <a:off x="6502400" y="4191000"/>
            <a:ext cx="2286000" cy="1016000"/>
          </a:xfrm>
          <a:prstGeom prst="roundRect">
            <a:avLst>
              <a:gd name="adj" fmla="val 10000"/>
            </a:avLst>
          </a:prstGeom>
          <a:solidFill>
            <a:srgbClr val="FFFFFF">
              <a:alpha val="100000"/>
            </a:srgbClr>
          </a:solidFill>
          <a:ln w="12700" cmpd="sng" cap="flat">
            <a:solidFill>
              <a:srgbClr val="D1D5D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629400" y="4318000"/>
            <a:ext cx="2032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1F2937"/>
                </a:solidFill>
                <a:latin typeface="Noto Sans SC"/>
                <a:ea typeface="Noto Sans SC"/>
                <a:cs typeface="Noto Sans SC"/>
                <a:sym typeface="Noto Sans SC"/>
              </a:rPr>
              <a:t>03 人工修正优化</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100">
                <a:solidFill>
                  <a:srgbClr val="6B7280"/>
                </a:solidFill>
                <a:latin typeface="Noto Sans SC"/>
                <a:ea typeface="Noto Sans SC"/>
                <a:cs typeface="Noto Sans SC"/>
                <a:sym typeface="Noto Sans SC"/>
              </a:rPr>
              <a:t>基于AI反馈修改内容</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100">
                <a:solidFill>
                  <a:srgbClr val="6B7280"/>
                </a:solidFill>
                <a:latin typeface="Noto Sans SC"/>
                <a:ea typeface="Noto Sans SC"/>
                <a:cs typeface="Noto Sans SC"/>
                <a:sym typeface="Noto Sans SC"/>
              </a:rPr>
              <a:t>若未达标，返回“执行”</a:t>
            </a:r>
          </a:p>
        </p:txBody>
      </p:sp>
      <p:sp>
        <p:nvSpPr>
          <p:cNvPr name="AutoShape 16" id="16"/>
          <p:cNvSpPr/>
          <p:nvPr/>
        </p:nvSpPr>
        <p:spPr>
          <a:xfrm rot="0" flipH="false" flipV="false">
            <a:off x="9042400" y="4191000"/>
            <a:ext cx="2286000" cy="1016000"/>
          </a:xfrm>
          <a:prstGeom prst="roundRect">
            <a:avLst>
              <a:gd name="adj" fmla="val 10000"/>
            </a:avLst>
          </a:prstGeom>
          <a:solidFill>
            <a:srgbClr val="ECFDF5">
              <a:alpha val="100000"/>
            </a:srgbClr>
          </a:solidFill>
          <a:ln w="12700" cmpd="sng" cap="flat">
            <a:solidFill>
              <a:srgbClr val="10B981">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9169400" y="4318000"/>
            <a:ext cx="2032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047857"/>
                </a:solidFill>
                <a:latin typeface="Noto Sans SC"/>
                <a:ea typeface="Noto Sans SC"/>
                <a:cs typeface="Noto Sans SC"/>
                <a:sym typeface="Noto Sans SC"/>
              </a:rPr>
              <a:t>04 达成目标</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100">
                <a:solidFill>
                  <a:srgbClr val="059669"/>
                </a:solidFill>
                <a:latin typeface="Noto Sans SC"/>
                <a:ea typeface="Noto Sans SC"/>
                <a:cs typeface="Noto Sans SC"/>
                <a:sym typeface="Noto Sans SC"/>
              </a:rPr>
              <a:t>满足写作要求</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100">
                <a:solidFill>
                  <a:srgbClr val="059669"/>
                </a:solidFill>
                <a:latin typeface="Noto Sans SC"/>
                <a:ea typeface="Noto Sans SC"/>
                <a:cs typeface="Noto Sans SC"/>
                <a:sym typeface="Noto Sans SC"/>
              </a:rPr>
              <a:t>进入下一阶段任务</a:t>
            </a:r>
          </a:p>
        </p:txBody>
      </p:sp>
      <p:sp>
        <p:nvSpPr>
          <p:cNvPr name="AutoShape 18" id="18"/>
          <p:cNvSpPr/>
          <p:nvPr/>
        </p:nvSpPr>
        <p:spPr>
          <a:xfrm rot="0" flipH="false" flipV="false">
            <a:off x="6502400" y="5461000"/>
            <a:ext cx="4826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true" strike="noStrike" u="none" sz="1300">
                <a:solidFill>
                  <a:srgbClr val="D97706"/>
                </a:solidFill>
                <a:latin typeface="Noto Sans SC"/>
                <a:ea typeface="Noto Sans SC"/>
                <a:cs typeface="Noto Sans SC"/>
                <a:sym typeface="Noto Sans SC"/>
              </a:rPr>
              <a:t>“形成闭环，让每一步修改都有据可依”</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381000"/>
            <a:ext cx="914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800">
                <a:solidFill>
                  <a:srgbClr val="1F2329"/>
                </a:solidFill>
                <a:latin typeface="Noto Sans SC"/>
                <a:ea typeface="Noto Sans SC"/>
                <a:cs typeface="Noto Sans SC"/>
                <a:sym typeface="Noto Sans SC"/>
              </a:rPr>
              <a:t>重新定义你的工作：三层工作分类法</a:t>
            </a:r>
            <a:endParaRPr lang="en-US" sz="1100"/>
          </a:p>
        </p:txBody>
      </p:sp>
      <p:pic>
        <p:nvPicPr>
          <p:cNvPr name="Picture 3" id="3"/>
          <p:cNvPicPr>
            <a:picLocks noChangeAspect="true"/>
          </p:cNvPicPr>
          <p:nvPr/>
        </p:nvPicPr>
        <p:blipFill>
          <a:blip r:embed="rId2"/>
          <a:srcRect l="0" r="0" t="0" b="0"/>
          <a:stretch>
            <a:fillRect/>
          </a:stretch>
        </p:blipFill>
        <p:spPr>
          <a:xfrm rot="0" flipH="false" flipV="false">
            <a:off x="9652000" y="381000"/>
            <a:ext cx="762000" cy="762000"/>
          </a:xfrm>
          <a:prstGeom prst="rect">
            <a:avLst/>
          </a:prstGeom>
          <a:noFill/>
          <a:ln w="25400" cmpd="sng" cap="flat">
            <a:noFill/>
            <a:prstDash val="solid"/>
            <a:round/>
          </a:ln>
        </p:spPr>
      </p:pic>
      <p:pic>
        <p:nvPicPr>
          <p:cNvPr name="Picture 4" id="4"/>
          <p:cNvPicPr>
            <a:picLocks noChangeAspect="true"/>
          </p:cNvPicPr>
          <p:nvPr/>
        </p:nvPicPr>
        <p:blipFill>
          <a:blip r:embed="rId3"/>
          <a:srcRect l="775" r="775" t="0" b="0"/>
          <a:stretch>
            <a:fillRect/>
          </a:stretch>
        </p:blipFill>
        <p:spPr>
          <a:xfrm rot="0" flipH="false" flipV="false">
            <a:off x="10668000" y="381000"/>
            <a:ext cx="762000" cy="762000"/>
          </a:xfrm>
          <a:prstGeom prst="rect">
            <a:avLst/>
          </a:prstGeom>
          <a:noFill/>
          <a:ln w="25400" cmpd="sng" cap="flat">
            <a:noFill/>
            <a:prstDash val="solid"/>
            <a:round/>
          </a:ln>
        </p:spPr>
      </p:pic>
      <p:sp>
        <p:nvSpPr>
          <p:cNvPr name="AutoShape 5" id="5"/>
          <p:cNvSpPr/>
          <p:nvPr/>
        </p:nvSpPr>
        <p:spPr>
          <a:xfrm rot="0" flipH="false" flipV="false">
            <a:off x="508000" y="1651000"/>
            <a:ext cx="3556000" cy="3302000"/>
          </a:xfrm>
          <a:prstGeom prst="roundRect">
            <a:avLst>
              <a:gd name="adj" fmla="val 0"/>
            </a:avLst>
          </a:prstGeom>
          <a:solidFill>
            <a:srgbClr val="EFF6FF">
              <a:alpha val="100000"/>
            </a:srgbClr>
          </a:solidFill>
          <a:ln w="12700" cmpd="sng" cap="flat">
            <a:solidFill>
              <a:srgbClr val="BFDBFE">
                <a:alpha val="10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635000" y="1841500"/>
            <a:ext cx="3302000" cy="2921000"/>
          </a:xfrm>
          <a:prstGeom prst="rect">
            <a:avLst/>
          </a:prstGeom>
          <a:noFill/>
          <a:ln w="127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1800">
                <a:solidFill>
                  <a:srgbClr val="1E40AF"/>
                </a:solidFill>
                <a:latin typeface="Noto Sans SC"/>
                <a:ea typeface="Noto Sans SC"/>
                <a:cs typeface="Noto Sans SC"/>
                <a:sym typeface="Noto Sans SC"/>
              </a:rPr>
              <a:t>🏆 顶层：创造性工作 (Creative Work)</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1000"/>
              </a:spcBef>
            </a:pPr>
            <a:r>
              <a:rPr lang="en-US" b="true" i="false" strike="noStrike" u="none" sz="1200">
                <a:solidFill>
                  <a:srgbClr val="374151"/>
                </a:solidFill>
                <a:latin typeface="Noto Sans SC"/>
                <a:ea typeface="Noto Sans SC"/>
                <a:cs typeface="Noto Sans SC"/>
                <a:sym typeface="Noto Sans SC"/>
              </a:rPr>
              <a:t>📝 核心内容：</a:t>
            </a:r>
            <a:r>
              <a:rPr lang="en-US" b="false" i="false" strike="noStrike" u="none" sz="1200">
                <a:solidFill>
                  <a:srgbClr val="4B5563"/>
                </a:solidFill>
                <a:latin typeface="Noto Sans SC"/>
                <a:ea typeface="Noto Sans SC"/>
                <a:cs typeface="Noto Sans SC"/>
                <a:sym typeface="Noto Sans SC"/>
              </a:rPr>
              <a:t>提出原创性问题、构建核心理论、设计创新实验、关键决策。</a:t>
            </a:r>
            <a:r>
              <a:rPr lang="en-US" b="false" i="false" strike="noStrike" u="none" sz="1600">
                <a:solidFill>
                  <a:srgbClr val="1F2329"/>
                </a:solidFill>
                <a:latin typeface="Noto Sans SC"/>
                <a:ea typeface="Noto Sans SC"/>
                <a:cs typeface="Noto Sans SC"/>
                <a:sym typeface="Noto Sans SC"/>
              </a:rPr>
              <a:t/>
            </a:r>
          </a:p>
          <a:p>
            <a:pPr algn="l" indent="0">
              <a:lnSpc>
                <a:spcPct val="108333"/>
              </a:lnSpc>
              <a:spcBef>
                <a:spcPts val="1000"/>
              </a:spcBef>
            </a:pPr>
            <a:r>
              <a:rPr lang="en-US" b="true" i="false" strike="noStrike" u="none" sz="1200">
                <a:solidFill>
                  <a:srgbClr val="374151"/>
                </a:solidFill>
                <a:latin typeface="Noto Sans SC"/>
                <a:ea typeface="Noto Sans SC"/>
                <a:cs typeface="Noto Sans SC"/>
                <a:sym typeface="Noto Sans SC"/>
              </a:rPr>
              <a:t>👤 主导者：</a:t>
            </a:r>
            <a:r>
              <a:rPr lang="en-US" b="true" i="false" strike="noStrike" u="none" sz="1200">
                <a:solidFill>
                  <a:srgbClr val="D97706"/>
                </a:solidFill>
                <a:latin typeface="Noto Sans SC"/>
                <a:ea typeface="Noto Sans SC"/>
                <a:cs typeface="Noto Sans SC"/>
                <a:sym typeface="Noto Sans SC"/>
              </a:rPr>
              <a:t>人 (Human)</a:t>
            </a:r>
            <a:r>
              <a:rPr lang="en-US" b="false" i="false" strike="noStrike" u="none" sz="1100">
                <a:solidFill>
                  <a:srgbClr val="6B7280"/>
                </a:solidFill>
                <a:latin typeface="Noto Sans SC"/>
                <a:ea typeface="Noto Sans SC"/>
                <a:cs typeface="Noto Sans SC"/>
                <a:sym typeface="Noto Sans SC"/>
              </a:rPr>
              <a:t>- 研究的灵魂，不可替代</a:t>
            </a:r>
            <a:r>
              <a:rPr lang="en-US" b="false" i="false" strike="noStrike" u="none" sz="1600">
                <a:solidFill>
                  <a:srgbClr val="1F2329"/>
                </a:solidFill>
                <a:latin typeface="Noto Sans SC"/>
                <a:ea typeface="Noto Sans SC"/>
                <a:cs typeface="Noto Sans SC"/>
                <a:sym typeface="Noto Sans SC"/>
              </a:rPr>
              <a:t/>
            </a:r>
          </a:p>
          <a:p>
            <a:pPr algn="l" indent="0">
              <a:lnSpc>
                <a:spcPct val="108333"/>
              </a:lnSpc>
              <a:spcBef>
                <a:spcPts val="1000"/>
              </a:spcBef>
            </a:pPr>
            <a:r>
              <a:rPr lang="en-US" b="true" i="false" strike="noStrike" u="none" sz="1200">
                <a:solidFill>
                  <a:srgbClr val="374151"/>
                </a:solidFill>
                <a:latin typeface="Noto Sans SC"/>
                <a:ea typeface="Noto Sans SC"/>
                <a:cs typeface="Noto Sans SC"/>
                <a:sym typeface="Noto Sans SC"/>
              </a:rPr>
              <a:t>🤖 AI角色：</a:t>
            </a:r>
            <a:r>
              <a:rPr lang="en-US" b="false" i="false" strike="noStrike" u="none" sz="1200">
                <a:solidFill>
                  <a:srgbClr val="4B5563"/>
                </a:solidFill>
                <a:latin typeface="Noto Sans SC"/>
                <a:ea typeface="Noto Sans SC"/>
                <a:cs typeface="Noto Sans SC"/>
                <a:sym typeface="Noto Sans SC"/>
              </a:rPr>
              <a:t>灵感激发者、批判性伙伴</a:t>
            </a:r>
          </a:p>
        </p:txBody>
      </p:sp>
      <p:sp>
        <p:nvSpPr>
          <p:cNvPr name="AutoShape 7" id="7"/>
          <p:cNvSpPr/>
          <p:nvPr/>
        </p:nvSpPr>
        <p:spPr>
          <a:xfrm rot="0" flipH="false" flipV="false">
            <a:off x="4318000" y="1651000"/>
            <a:ext cx="3556000" cy="3302000"/>
          </a:xfrm>
          <a:prstGeom prst="roundRect">
            <a:avLst>
              <a:gd name="adj" fmla="val 0"/>
            </a:avLst>
          </a:prstGeom>
          <a:solidFill>
            <a:srgbClr val="FFFBEB">
              <a:alpha val="100000"/>
            </a:srgbClr>
          </a:solidFill>
          <a:ln w="12700" cmpd="sng" cap="flat">
            <a:solidFill>
              <a:srgbClr val="FDE68A">
                <a:alpha val="10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4445000" y="1841500"/>
            <a:ext cx="3302000" cy="2921000"/>
          </a:xfrm>
          <a:prstGeom prst="rect">
            <a:avLst/>
          </a:prstGeom>
          <a:noFill/>
          <a:ln w="127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1800">
                <a:solidFill>
                  <a:srgbClr val="B45309"/>
                </a:solidFill>
                <a:latin typeface="Noto Sans SC"/>
                <a:ea typeface="Noto Sans SC"/>
                <a:cs typeface="Noto Sans SC"/>
                <a:sym typeface="Noto Sans SC"/>
              </a:rPr>
              <a:t>🧠 中层：分析性工作 (Analytical Work)</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1000"/>
              </a:spcBef>
            </a:pPr>
            <a:r>
              <a:rPr lang="en-US" b="true" i="false" strike="noStrike" u="none" sz="1200">
                <a:solidFill>
                  <a:srgbClr val="374151"/>
                </a:solidFill>
                <a:latin typeface="Noto Sans SC"/>
                <a:ea typeface="Noto Sans SC"/>
                <a:cs typeface="Noto Sans SC"/>
                <a:sym typeface="Noto Sans SC"/>
              </a:rPr>
              <a:t>📝 核心内容：</a:t>
            </a:r>
            <a:r>
              <a:rPr lang="en-US" b="false" i="false" strike="noStrike" u="none" sz="1200">
                <a:solidFill>
                  <a:srgbClr val="4B5563"/>
                </a:solidFill>
                <a:latin typeface="Noto Sans SC"/>
                <a:ea typeface="Noto Sans SC"/>
                <a:cs typeface="Noto Sans SC"/>
                <a:sym typeface="Noto Sans SC"/>
              </a:rPr>
              <a:t>文献综述归纳、实验方案对比、数据结果解读、审稿意见回应。</a:t>
            </a:r>
            <a:r>
              <a:rPr lang="en-US" b="false" i="false" strike="noStrike" u="none" sz="1600">
                <a:solidFill>
                  <a:srgbClr val="1F2329"/>
                </a:solidFill>
                <a:latin typeface="Noto Sans SC"/>
                <a:ea typeface="Noto Sans SC"/>
                <a:cs typeface="Noto Sans SC"/>
                <a:sym typeface="Noto Sans SC"/>
              </a:rPr>
              <a:t/>
            </a:r>
          </a:p>
          <a:p>
            <a:pPr algn="l" indent="0">
              <a:lnSpc>
                <a:spcPct val="108333"/>
              </a:lnSpc>
              <a:spcBef>
                <a:spcPts val="1000"/>
              </a:spcBef>
            </a:pPr>
            <a:r>
              <a:rPr lang="en-US" b="true" i="false" strike="noStrike" u="none" sz="1200">
                <a:solidFill>
                  <a:srgbClr val="374151"/>
                </a:solidFill>
                <a:latin typeface="Noto Sans SC"/>
                <a:ea typeface="Noto Sans SC"/>
                <a:cs typeface="Noto Sans SC"/>
                <a:sym typeface="Noto Sans SC"/>
              </a:rPr>
              <a:t>🤝 协作模式：</a:t>
            </a:r>
            <a:r>
              <a:rPr lang="en-US" b="true" i="false" strike="noStrike" u="none" sz="1200">
                <a:solidFill>
                  <a:srgbClr val="2563EB"/>
                </a:solidFill>
                <a:latin typeface="Noto Sans SC"/>
                <a:ea typeface="Noto Sans SC"/>
                <a:cs typeface="Noto Sans SC"/>
                <a:sym typeface="Noto Sans SC"/>
              </a:rPr>
              <a:t>AI 辅助 + 人 决策</a:t>
            </a:r>
            <a:r>
              <a:rPr lang="en-US" b="false" i="false" strike="noStrike" u="none" sz="1600">
                <a:solidFill>
                  <a:srgbClr val="1F2329"/>
                </a:solidFill>
                <a:latin typeface="Noto Sans SC"/>
                <a:ea typeface="Noto Sans SC"/>
                <a:cs typeface="Noto Sans SC"/>
                <a:sym typeface="Noto Sans SC"/>
              </a:rPr>
              <a:t/>
            </a:r>
          </a:p>
          <a:p>
            <a:pPr algn="l" indent="0">
              <a:lnSpc>
                <a:spcPct val="108333"/>
              </a:lnSpc>
              <a:spcBef>
                <a:spcPts val="1000"/>
              </a:spcBef>
            </a:pPr>
            <a:r>
              <a:rPr lang="en-US" b="true" i="false" strike="noStrike" u="none" sz="1200">
                <a:solidFill>
                  <a:srgbClr val="374151"/>
                </a:solidFill>
                <a:latin typeface="Noto Sans SC"/>
                <a:ea typeface="Noto Sans SC"/>
                <a:cs typeface="Noto Sans SC"/>
                <a:sym typeface="Noto Sans SC"/>
              </a:rPr>
              <a:t>💡 价值：</a:t>
            </a:r>
            <a:r>
              <a:rPr lang="en-US" b="false" i="false" strike="noStrike" u="none" sz="1200">
                <a:solidFill>
                  <a:srgbClr val="4B5563"/>
                </a:solidFill>
                <a:latin typeface="Noto Sans SC"/>
                <a:ea typeface="Noto Sans SC"/>
                <a:cs typeface="Noto Sans SC"/>
                <a:sym typeface="Noto Sans SC"/>
              </a:rPr>
              <a:t>利用AI提升效率，把控分析质量</a:t>
            </a:r>
          </a:p>
        </p:txBody>
      </p:sp>
      <p:sp>
        <p:nvSpPr>
          <p:cNvPr name="AutoShape 9" id="9"/>
          <p:cNvSpPr/>
          <p:nvPr/>
        </p:nvSpPr>
        <p:spPr>
          <a:xfrm rot="0" flipH="false" flipV="false">
            <a:off x="8128000" y="1651000"/>
            <a:ext cx="3556000" cy="3302000"/>
          </a:xfrm>
          <a:prstGeom prst="roundRect">
            <a:avLst>
              <a:gd name="adj" fmla="val 0"/>
            </a:avLst>
          </a:prstGeom>
          <a:solidFill>
            <a:srgbClr val="F0FDF4">
              <a:alpha val="100000"/>
            </a:srgbClr>
          </a:solidFill>
          <a:ln w="12700" cmpd="sng" cap="flat">
            <a:solidFill>
              <a:srgbClr val="BBF7D0">
                <a:alpha val="10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8255000" y="1841500"/>
            <a:ext cx="3302000" cy="2921000"/>
          </a:xfrm>
          <a:prstGeom prst="rect">
            <a:avLst/>
          </a:prstGeom>
          <a:noFill/>
          <a:ln w="127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1800">
                <a:solidFill>
                  <a:srgbClr val="15803D"/>
                </a:solidFill>
                <a:latin typeface="Noto Sans SC"/>
                <a:ea typeface="Noto Sans SC"/>
                <a:cs typeface="Noto Sans SC"/>
                <a:sym typeface="Noto Sans SC"/>
              </a:rPr>
              <a:t>⚙️ 底层：机械性工作 (Mechanical Work)</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1000"/>
              </a:spcBef>
            </a:pPr>
            <a:r>
              <a:rPr lang="en-US" b="true" i="false" strike="noStrike" u="none" sz="1200">
                <a:solidFill>
                  <a:srgbClr val="374151"/>
                </a:solidFill>
                <a:latin typeface="Noto Sans SC"/>
                <a:ea typeface="Noto Sans SC"/>
                <a:cs typeface="Noto Sans SC"/>
                <a:sym typeface="Noto Sans SC"/>
              </a:rPr>
              <a:t>📝 核心内容：</a:t>
            </a:r>
            <a:r>
              <a:rPr lang="en-US" b="false" i="false" strike="noStrike" u="none" sz="1200">
                <a:solidFill>
                  <a:srgbClr val="4B5563"/>
                </a:solidFill>
                <a:latin typeface="Noto Sans SC"/>
                <a:ea typeface="Noto Sans SC"/>
                <a:cs typeface="Noto Sans SC"/>
                <a:sym typeface="Noto Sans SC"/>
              </a:rPr>
              <a:t>文献格式整理、参考文献管理、语言润色、数据清洗、基础代码编写。</a:t>
            </a:r>
            <a:r>
              <a:rPr lang="en-US" b="false" i="false" strike="noStrike" u="none" sz="1600">
                <a:solidFill>
                  <a:srgbClr val="1F2329"/>
                </a:solidFill>
                <a:latin typeface="Noto Sans SC"/>
                <a:ea typeface="Noto Sans SC"/>
                <a:cs typeface="Noto Sans SC"/>
                <a:sym typeface="Noto Sans SC"/>
              </a:rPr>
              <a:t/>
            </a:r>
          </a:p>
          <a:p>
            <a:pPr algn="l" indent="0">
              <a:lnSpc>
                <a:spcPct val="108333"/>
              </a:lnSpc>
              <a:spcBef>
                <a:spcPts val="1000"/>
              </a:spcBef>
            </a:pPr>
            <a:r>
              <a:rPr lang="en-US" b="true" i="false" strike="noStrike" u="none" sz="1200">
                <a:solidFill>
                  <a:srgbClr val="374151"/>
                </a:solidFill>
                <a:latin typeface="Noto Sans SC"/>
                <a:ea typeface="Noto Sans SC"/>
                <a:cs typeface="Noto Sans SC"/>
                <a:sym typeface="Noto Sans SC"/>
              </a:rPr>
              <a:t>🤖 主导者：</a:t>
            </a:r>
            <a:r>
              <a:rPr lang="en-US" b="true" i="false" strike="noStrike" u="none" sz="1200">
                <a:solidFill>
                  <a:srgbClr val="DC2626"/>
                </a:solidFill>
                <a:latin typeface="Noto Sans SC"/>
                <a:ea typeface="Noto Sans SC"/>
                <a:cs typeface="Noto Sans SC"/>
                <a:sym typeface="Noto Sans SC"/>
              </a:rPr>
              <a:t>AI (人工智能)</a:t>
            </a:r>
            <a:r>
              <a:rPr lang="en-US" b="false" i="false" strike="noStrike" u="none" sz="1600">
                <a:solidFill>
                  <a:srgbClr val="1F2329"/>
                </a:solidFill>
                <a:latin typeface="Noto Sans SC"/>
                <a:ea typeface="Noto Sans SC"/>
                <a:cs typeface="Noto Sans SC"/>
                <a:sym typeface="Noto Sans SC"/>
              </a:rPr>
              <a:t/>
            </a:r>
          </a:p>
          <a:p>
            <a:pPr algn="l" indent="0">
              <a:lnSpc>
                <a:spcPct val="108333"/>
              </a:lnSpc>
              <a:spcBef>
                <a:spcPts val="1000"/>
              </a:spcBef>
            </a:pPr>
            <a:r>
              <a:rPr lang="en-US" b="true" i="false" strike="noStrike" u="none" sz="1200">
                <a:solidFill>
                  <a:srgbClr val="374151"/>
                </a:solidFill>
                <a:latin typeface="Noto Sans SC"/>
                <a:ea typeface="Noto Sans SC"/>
                <a:cs typeface="Noto Sans SC"/>
                <a:sym typeface="Noto Sans SC"/>
              </a:rPr>
              <a:t>🚀 目标：</a:t>
            </a:r>
            <a:r>
              <a:rPr lang="en-US" b="false" i="false" strike="noStrike" u="none" sz="1200">
                <a:solidFill>
                  <a:srgbClr val="4B5563"/>
                </a:solidFill>
                <a:latin typeface="Noto Sans SC"/>
                <a:ea typeface="Noto Sans SC"/>
                <a:cs typeface="Noto Sans SC"/>
                <a:sym typeface="Noto Sans SC"/>
              </a:rPr>
              <a:t>自动化处理，解放人力</a:t>
            </a:r>
          </a:p>
        </p:txBody>
      </p:sp>
      <p:sp>
        <p:nvSpPr>
          <p:cNvPr name="AutoShape 11" id="11"/>
          <p:cNvSpPr/>
          <p:nvPr/>
        </p:nvSpPr>
        <p:spPr>
          <a:xfrm rot="0" flipH="false" flipV="false">
            <a:off x="508000" y="5334000"/>
            <a:ext cx="11176000" cy="1143000"/>
          </a:xfrm>
          <a:prstGeom prst="roundRect">
            <a:avLst>
              <a:gd name="adj" fmla="val 0"/>
            </a:avLst>
          </a:prstGeom>
          <a:solidFill>
            <a:srgbClr val="1E3A8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762000" y="5524500"/>
            <a:ext cx="10668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true" i="false" strike="noStrike" u="none" sz="1800">
                <a:solidFill>
                  <a:srgbClr val="FFFFFF"/>
                </a:solidFill>
                <a:latin typeface="Noto Sans SC"/>
                <a:ea typeface="Noto Sans SC"/>
                <a:cs typeface="Noto Sans SC"/>
                <a:sym typeface="Noto Sans SC"/>
              </a:rPr>
              <a:t>🎯 我们的目标：将80%的时间从机械与分析工作压缩至20%以下，全力聚焦顶层的创造性工作！</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10033000" y="254000"/>
            <a:ext cx="635000" cy="635000"/>
          </a:xfrm>
          <a:prstGeom prst="rect">
            <a:avLst/>
          </a:prstGeom>
          <a:noFill/>
          <a:ln w="25400" cmpd="sng" cap="flat">
            <a:noFill/>
            <a:prstDash val="solid"/>
            <a:round/>
          </a:ln>
        </p:spPr>
      </p:pic>
      <p:pic>
        <p:nvPicPr>
          <p:cNvPr name="Picture 3" id="3"/>
          <p:cNvPicPr>
            <a:picLocks noChangeAspect="true"/>
          </p:cNvPicPr>
          <p:nvPr/>
        </p:nvPicPr>
        <p:blipFill>
          <a:blip r:embed="rId3"/>
          <a:srcRect l="775" r="775" t="0" b="0"/>
          <a:stretch>
            <a:fillRect/>
          </a:stretch>
        </p:blipFill>
        <p:spPr>
          <a:xfrm rot="0" flipH="false" flipV="false">
            <a:off x="10922000" y="254000"/>
            <a:ext cx="635000" cy="635000"/>
          </a:xfrm>
          <a:prstGeom prst="rect">
            <a:avLst/>
          </a:prstGeom>
          <a:noFill/>
          <a:ln w="25400" cmpd="sng" cap="flat">
            <a:noFill/>
            <a:prstDash val="solid"/>
            <a:round/>
          </a:ln>
        </p:spPr>
      </p:pic>
      <p:sp>
        <p:nvSpPr>
          <p:cNvPr name="AutoShape 4" id="4"/>
          <p:cNvSpPr/>
          <p:nvPr/>
        </p:nvSpPr>
        <p:spPr>
          <a:xfrm rot="0" flipH="false" flipV="false">
            <a:off x="508000" y="317500"/>
            <a:ext cx="914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800">
                <a:solidFill>
                  <a:srgbClr val="0E3874"/>
                </a:solidFill>
                <a:latin typeface="Noto Sans SC"/>
                <a:ea typeface="Noto Sans SC"/>
                <a:cs typeface="Noto Sans SC"/>
                <a:sym typeface="Noto Sans SC"/>
              </a:rPr>
              <a:t>解放生产力：AI自动化处理机械性工作清单</a:t>
            </a:r>
            <a:endParaRPr lang="en-US" sz="1100"/>
          </a:p>
        </p:txBody>
      </p:sp>
      <p:sp>
        <p:nvSpPr>
          <p:cNvPr name="AutoShape 5" id="5"/>
          <p:cNvSpPr/>
          <p:nvPr/>
        </p:nvSpPr>
        <p:spPr>
          <a:xfrm rot="0" flipH="false" flipV="false">
            <a:off x="508000" y="1206500"/>
            <a:ext cx="1117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525252"/>
                </a:solidFill>
                <a:latin typeface="Noto Sans SC"/>
                <a:ea typeface="Noto Sans SC"/>
                <a:cs typeface="Noto Sans SC"/>
                <a:sym typeface="Noto Sans SC"/>
              </a:rPr>
              <a:t>让我们先从最容易实现自动化的底层工作开始。以下是一份常见的机械性工作清单，以及对应的AI解决方案和预估的时间节省：</a:t>
            </a:r>
            <a:endParaRPr lang="en-US" sz="1100"/>
          </a:p>
        </p:txBody>
      </p:sp>
      <p:sp>
        <p:nvSpPr>
          <p:cNvPr name="AutoShape 6" id="6"/>
          <p:cNvSpPr/>
          <p:nvPr/>
        </p:nvSpPr>
        <p:spPr>
          <a:xfrm rot="0" flipH="false" flipV="false">
            <a:off x="508000" y="2032000"/>
            <a:ext cx="2082800" cy="3048000"/>
          </a:xfrm>
          <a:prstGeom prst="roundRect">
            <a:avLst>
              <a:gd name="adj" fmla="val 4878"/>
            </a:avLst>
          </a:prstGeom>
          <a:solidFill>
            <a:srgbClr val="EFF6FF">
              <a:alpha val="100000"/>
            </a:srgbClr>
          </a:solidFill>
          <a:ln w="12700" cmpd="sng" cap="flat">
            <a:solidFill>
              <a:srgbClr val="BFDBFE">
                <a:alpha val="10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508000" y="2032000"/>
            <a:ext cx="2082800" cy="508000"/>
          </a:xfrm>
          <a:prstGeom prst="roundRect">
            <a:avLst>
              <a:gd name="adj" fmla="val 0"/>
            </a:avLst>
          </a:prstGeom>
          <a:solidFill>
            <a:srgbClr val="2563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571500" y="2108200"/>
            <a:ext cx="1955800" cy="3556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FFFF"/>
                </a:solidFill>
                <a:latin typeface="Noto Sans SC"/>
                <a:ea typeface="Noto Sans SC"/>
                <a:cs typeface="Noto Sans SC"/>
                <a:sym typeface="Noto Sans SC"/>
              </a:rPr>
              <a:t>📚 文献管理</a:t>
            </a:r>
            <a:endParaRPr lang="en-US" sz="1100"/>
          </a:p>
        </p:txBody>
      </p:sp>
      <p:sp>
        <p:nvSpPr>
          <p:cNvPr name="AutoShape 9" id="9"/>
          <p:cNvSpPr/>
          <p:nvPr/>
        </p:nvSpPr>
        <p:spPr>
          <a:xfrm rot="0" flipH="false" flipV="false">
            <a:off x="635000" y="2794000"/>
            <a:ext cx="1828800" cy="203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200">
                <a:solidFill>
                  <a:srgbClr val="1F2937"/>
                </a:solidFill>
                <a:latin typeface="Noto Sans SC"/>
                <a:ea typeface="Noto Sans SC"/>
                <a:cs typeface="Noto Sans SC"/>
                <a:sym typeface="Noto Sans SC"/>
              </a:rPr>
              <a:t>具体工作：</a:t>
            </a:r>
            <a:r>
              <a:rPr lang="en-US" b="false" i="false" strike="noStrike" u="none" sz="1200">
                <a:solidFill>
                  <a:srgbClr val="4B5563"/>
                </a:solidFill>
                <a:latin typeface="Noto Sans SC"/>
                <a:ea typeface="Noto Sans SC"/>
                <a:cs typeface="Noto Sans SC"/>
                <a:sym typeface="Noto Sans SC"/>
              </a:rPr>
              <a:t>文献插入、格式调整、参考文献格式化</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true" i="false" strike="noStrike" u="none" sz="1200">
                <a:solidFill>
                  <a:srgbClr val="1F2937"/>
                </a:solidFill>
                <a:latin typeface="Noto Sans SC"/>
                <a:ea typeface="Noto Sans SC"/>
                <a:cs typeface="Noto Sans SC"/>
                <a:sym typeface="Noto Sans SC"/>
              </a:rPr>
              <a:t>推荐工具：</a:t>
            </a:r>
            <a:r>
              <a:rPr lang="en-US" b="false" i="false" strike="noStrike" u="none" sz="1200">
                <a:solidFill>
                  <a:srgbClr val="4B5563"/>
                </a:solidFill>
                <a:latin typeface="Noto Sans SC"/>
                <a:ea typeface="Noto Sans SC"/>
                <a:cs typeface="Noto Sans SC"/>
                <a:sym typeface="Noto Sans SC"/>
              </a:rPr>
              <a:t>Zotero / Mendeley + GPT / Claude</a:t>
            </a:r>
            <a:r>
              <a:rPr lang="en-US" b="false" i="false" strike="noStrike" u="none" sz="1600">
                <a:solidFill>
                  <a:srgbClr val="1F2329"/>
                </a:solidFill>
                <a:latin typeface="Noto Sans SC"/>
                <a:ea typeface="Noto Sans SC"/>
                <a:cs typeface="Noto Sans SC"/>
                <a:sym typeface="Noto Sans SC"/>
              </a:rPr>
              <a:t/>
            </a:r>
          </a:p>
          <a:p>
            <a:pPr algn="l" indent="0">
              <a:lnSpc>
                <a:spcPct val="108333"/>
              </a:lnSpc>
              <a:spcBef>
                <a:spcPts val="800"/>
              </a:spcBef>
            </a:pPr>
            <a:r>
              <a:rPr lang="en-US" b="true" i="false" strike="noStrike" u="none" sz="1200">
                <a:solidFill>
                  <a:srgbClr val="1F2937"/>
                </a:solidFill>
                <a:latin typeface="Noto Sans SC"/>
                <a:ea typeface="Noto Sans SC"/>
                <a:cs typeface="Noto Sans SC"/>
                <a:sym typeface="Noto Sans SC"/>
              </a:rPr>
              <a:t>⏱ 预计节省：</a:t>
            </a:r>
            <a:r>
              <a:rPr lang="en-US" b="true" i="false" strike="noStrike" u="none" sz="1400">
                <a:solidFill>
                  <a:srgbClr val="D97706"/>
                </a:solidFill>
                <a:latin typeface="Noto Sans SC"/>
                <a:ea typeface="Noto Sans SC"/>
                <a:cs typeface="Noto Sans SC"/>
                <a:sym typeface="Noto Sans SC"/>
              </a:rPr>
              <a:t>1-2 小时</a:t>
            </a:r>
          </a:p>
        </p:txBody>
      </p:sp>
      <p:sp>
        <p:nvSpPr>
          <p:cNvPr name="AutoShape 10" id="10"/>
          <p:cNvSpPr/>
          <p:nvPr/>
        </p:nvSpPr>
        <p:spPr>
          <a:xfrm rot="0" flipH="false" flipV="false">
            <a:off x="2806700" y="2032000"/>
            <a:ext cx="2082800" cy="3048000"/>
          </a:xfrm>
          <a:prstGeom prst="roundRect">
            <a:avLst>
              <a:gd name="adj" fmla="val 4878"/>
            </a:avLst>
          </a:prstGeom>
          <a:solidFill>
            <a:srgbClr val="EFF6FF">
              <a:alpha val="100000"/>
            </a:srgbClr>
          </a:solidFill>
          <a:ln w="12700" cmpd="sng" cap="flat">
            <a:solidFill>
              <a:srgbClr val="BFDBFE">
                <a:alpha val="10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2806700" y="2032000"/>
            <a:ext cx="2082800" cy="5080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2870200" y="2108200"/>
            <a:ext cx="1955800" cy="3556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FFFF"/>
                </a:solidFill>
                <a:latin typeface="Noto Sans SC"/>
                <a:ea typeface="Noto Sans SC"/>
                <a:cs typeface="Noto Sans SC"/>
                <a:sym typeface="Noto Sans SC"/>
              </a:rPr>
              <a:t>✍️ 语言润色</a:t>
            </a:r>
            <a:endParaRPr lang="en-US" sz="1100"/>
          </a:p>
        </p:txBody>
      </p:sp>
      <p:sp>
        <p:nvSpPr>
          <p:cNvPr name="AutoShape 13" id="13"/>
          <p:cNvSpPr/>
          <p:nvPr/>
        </p:nvSpPr>
        <p:spPr>
          <a:xfrm rot="0" flipH="false" flipV="false">
            <a:off x="2933700" y="2794000"/>
            <a:ext cx="1828800" cy="203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200">
                <a:solidFill>
                  <a:srgbClr val="1F2937"/>
                </a:solidFill>
                <a:latin typeface="Noto Sans SC"/>
                <a:ea typeface="Noto Sans SC"/>
                <a:cs typeface="Noto Sans SC"/>
                <a:sym typeface="Noto Sans SC"/>
              </a:rPr>
              <a:t>具体工作：</a:t>
            </a:r>
            <a:r>
              <a:rPr lang="en-US" b="false" i="false" strike="noStrike" u="none" sz="1200">
                <a:solidFill>
                  <a:srgbClr val="4B5563"/>
                </a:solidFill>
                <a:latin typeface="Noto Sans SC"/>
                <a:ea typeface="Noto Sans SC"/>
                <a:cs typeface="Noto Sans SC"/>
                <a:sym typeface="Noto Sans SC"/>
              </a:rPr>
              <a:t>英文语法、拼写、标点检查，学术表达优化</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true" i="false" strike="noStrike" u="none" sz="1200">
                <a:solidFill>
                  <a:srgbClr val="1F2937"/>
                </a:solidFill>
                <a:latin typeface="Noto Sans SC"/>
                <a:ea typeface="Noto Sans SC"/>
                <a:cs typeface="Noto Sans SC"/>
                <a:sym typeface="Noto Sans SC"/>
              </a:rPr>
              <a:t>推荐工具：</a:t>
            </a:r>
            <a:r>
              <a:rPr lang="en-US" b="false" i="false" strike="noStrike" u="none" sz="1200">
                <a:solidFill>
                  <a:srgbClr val="4B5563"/>
                </a:solidFill>
                <a:latin typeface="Noto Sans SC"/>
                <a:ea typeface="Noto Sans SC"/>
                <a:cs typeface="Noto Sans SC"/>
                <a:sym typeface="Noto Sans SC"/>
              </a:rPr>
              <a:t>Grammarly / Claude / LanguageTool</a:t>
            </a:r>
            <a:r>
              <a:rPr lang="en-US" b="false" i="false" strike="noStrike" u="none" sz="1600">
                <a:solidFill>
                  <a:srgbClr val="1F2329"/>
                </a:solidFill>
                <a:latin typeface="Noto Sans SC"/>
                <a:ea typeface="Noto Sans SC"/>
                <a:cs typeface="Noto Sans SC"/>
                <a:sym typeface="Noto Sans SC"/>
              </a:rPr>
              <a:t/>
            </a:r>
          </a:p>
          <a:p>
            <a:pPr algn="l" indent="0">
              <a:lnSpc>
                <a:spcPct val="108333"/>
              </a:lnSpc>
              <a:spcBef>
                <a:spcPts val="800"/>
              </a:spcBef>
            </a:pPr>
            <a:r>
              <a:rPr lang="en-US" b="true" i="false" strike="noStrike" u="none" sz="1200">
                <a:solidFill>
                  <a:srgbClr val="1F2937"/>
                </a:solidFill>
                <a:latin typeface="Noto Sans SC"/>
                <a:ea typeface="Noto Sans SC"/>
                <a:cs typeface="Noto Sans SC"/>
                <a:sym typeface="Noto Sans SC"/>
              </a:rPr>
              <a:t>⏱ 预计节省：</a:t>
            </a:r>
            <a:r>
              <a:rPr lang="en-US" b="true" i="false" strike="noStrike" u="none" sz="1400">
                <a:solidFill>
                  <a:srgbClr val="D97706"/>
                </a:solidFill>
                <a:latin typeface="Noto Sans SC"/>
                <a:ea typeface="Noto Sans SC"/>
                <a:cs typeface="Noto Sans SC"/>
                <a:sym typeface="Noto Sans SC"/>
              </a:rPr>
              <a:t>3-5 小时</a:t>
            </a:r>
          </a:p>
        </p:txBody>
      </p:sp>
      <p:sp>
        <p:nvSpPr>
          <p:cNvPr name="AutoShape 14" id="14"/>
          <p:cNvSpPr/>
          <p:nvPr/>
        </p:nvSpPr>
        <p:spPr>
          <a:xfrm rot="0" flipH="false" flipV="false">
            <a:off x="5105400" y="2032000"/>
            <a:ext cx="2082800" cy="3048000"/>
          </a:xfrm>
          <a:prstGeom prst="roundRect">
            <a:avLst>
              <a:gd name="adj" fmla="val 4878"/>
            </a:avLst>
          </a:prstGeom>
          <a:solidFill>
            <a:srgbClr val="EFF6FF">
              <a:alpha val="100000"/>
            </a:srgbClr>
          </a:solidFill>
          <a:ln w="12700" cmpd="sng" cap="flat">
            <a:solidFill>
              <a:srgbClr val="BFDBFE">
                <a:alpha val="10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5105400" y="2032000"/>
            <a:ext cx="2082800" cy="508000"/>
          </a:xfrm>
          <a:prstGeom prst="roundRect">
            <a:avLst>
              <a:gd name="adj" fmla="val 0"/>
            </a:avLst>
          </a:prstGeom>
          <a:solidFill>
            <a:srgbClr val="F59E0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5168900" y="2108200"/>
            <a:ext cx="1955800" cy="3556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FFFF"/>
                </a:solidFill>
                <a:latin typeface="Noto Sans SC"/>
                <a:ea typeface="Noto Sans SC"/>
                <a:cs typeface="Noto Sans SC"/>
                <a:sym typeface="Noto Sans SC"/>
              </a:rPr>
              <a:t>📝 摘要初稿</a:t>
            </a:r>
            <a:endParaRPr lang="en-US" sz="1100"/>
          </a:p>
        </p:txBody>
      </p:sp>
      <p:sp>
        <p:nvSpPr>
          <p:cNvPr name="AutoShape 17" id="17"/>
          <p:cNvSpPr/>
          <p:nvPr/>
        </p:nvSpPr>
        <p:spPr>
          <a:xfrm rot="0" flipH="false" flipV="false">
            <a:off x="5232400" y="2794000"/>
            <a:ext cx="1828800" cy="203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200">
                <a:solidFill>
                  <a:srgbClr val="1F2937"/>
                </a:solidFill>
                <a:latin typeface="Noto Sans SC"/>
                <a:ea typeface="Noto Sans SC"/>
                <a:cs typeface="Noto Sans SC"/>
                <a:sym typeface="Noto Sans SC"/>
              </a:rPr>
              <a:t>具体工作：</a:t>
            </a:r>
            <a:r>
              <a:rPr lang="en-US" b="false" i="false" strike="noStrike" u="none" sz="1200">
                <a:solidFill>
                  <a:srgbClr val="4B5563"/>
                </a:solidFill>
                <a:latin typeface="Noto Sans SC"/>
                <a:ea typeface="Noto Sans SC"/>
                <a:cs typeface="Noto Sans SC"/>
                <a:sym typeface="Noto Sans SC"/>
              </a:rPr>
              <a:t>根据论文内容快速生成符合规范的英文摘要</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true" i="false" strike="noStrike" u="none" sz="1200">
                <a:solidFill>
                  <a:srgbClr val="1F2937"/>
                </a:solidFill>
                <a:latin typeface="Noto Sans SC"/>
                <a:ea typeface="Noto Sans SC"/>
                <a:cs typeface="Noto Sans SC"/>
                <a:sym typeface="Noto Sans SC"/>
              </a:rPr>
              <a:t>推荐工具：</a:t>
            </a:r>
            <a:r>
              <a:rPr lang="en-US" b="false" i="false" strike="noStrike" u="none" sz="1200">
                <a:solidFill>
                  <a:srgbClr val="4B5563"/>
                </a:solidFill>
                <a:latin typeface="Noto Sans SC"/>
                <a:ea typeface="Noto Sans SC"/>
                <a:cs typeface="Noto Sans SC"/>
                <a:sym typeface="Noto Sans SC"/>
              </a:rPr>
              <a:t>Claude / GPT-4</a:t>
            </a:r>
            <a:r>
              <a:rPr lang="en-US" b="false" i="false" strike="noStrike" u="none" sz="1600">
                <a:solidFill>
                  <a:srgbClr val="1F2329"/>
                </a:solidFill>
                <a:latin typeface="Noto Sans SC"/>
                <a:ea typeface="Noto Sans SC"/>
                <a:cs typeface="Noto Sans SC"/>
                <a:sym typeface="Noto Sans SC"/>
              </a:rPr>
              <a:t/>
            </a:r>
          </a:p>
          <a:p>
            <a:pPr algn="l" indent="0">
              <a:lnSpc>
                <a:spcPct val="108333"/>
              </a:lnSpc>
              <a:spcBef>
                <a:spcPts val="800"/>
              </a:spcBef>
            </a:pPr>
            <a:r>
              <a:rPr lang="en-US" b="true" i="false" strike="noStrike" u="none" sz="1200">
                <a:solidFill>
                  <a:srgbClr val="1F2937"/>
                </a:solidFill>
                <a:latin typeface="Noto Sans SC"/>
                <a:ea typeface="Noto Sans SC"/>
                <a:cs typeface="Noto Sans SC"/>
                <a:sym typeface="Noto Sans SC"/>
              </a:rPr>
              <a:t>⏱ 预计节省：</a:t>
            </a:r>
            <a:r>
              <a:rPr lang="en-US" b="true" i="false" strike="noStrike" u="none" sz="1400">
                <a:solidFill>
                  <a:srgbClr val="D97706"/>
                </a:solidFill>
                <a:latin typeface="Noto Sans SC"/>
                <a:ea typeface="Noto Sans SC"/>
                <a:cs typeface="Noto Sans SC"/>
                <a:sym typeface="Noto Sans SC"/>
              </a:rPr>
              <a:t>1-2 小时</a:t>
            </a:r>
          </a:p>
        </p:txBody>
      </p:sp>
      <p:sp>
        <p:nvSpPr>
          <p:cNvPr name="AutoShape 18" id="18"/>
          <p:cNvSpPr/>
          <p:nvPr/>
        </p:nvSpPr>
        <p:spPr>
          <a:xfrm rot="0" flipH="false" flipV="false">
            <a:off x="7404100" y="2032000"/>
            <a:ext cx="2082800" cy="3048000"/>
          </a:xfrm>
          <a:prstGeom prst="roundRect">
            <a:avLst>
              <a:gd name="adj" fmla="val 4878"/>
            </a:avLst>
          </a:prstGeom>
          <a:solidFill>
            <a:srgbClr val="EFF6FF">
              <a:alpha val="100000"/>
            </a:srgbClr>
          </a:solidFill>
          <a:ln w="12700" cmpd="sng" cap="flat">
            <a:solidFill>
              <a:srgbClr val="BFDBFE">
                <a:alpha val="100000"/>
              </a:srgbClr>
            </a:solid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7404100" y="2032000"/>
            <a:ext cx="2082800" cy="508000"/>
          </a:xfrm>
          <a:prstGeom prst="roundRect">
            <a:avLst>
              <a:gd name="adj" fmla="val 0"/>
            </a:avLst>
          </a:prstGeom>
          <a:solidFill>
            <a:srgbClr val="8B5C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7467600" y="2108200"/>
            <a:ext cx="1955800" cy="3556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FFFF"/>
                </a:solidFill>
                <a:latin typeface="Noto Sans SC"/>
                <a:ea typeface="Noto Sans SC"/>
                <a:cs typeface="Noto Sans SC"/>
                <a:sym typeface="Noto Sans SC"/>
              </a:rPr>
              <a:t>📊 数据分析</a:t>
            </a:r>
            <a:endParaRPr lang="en-US" sz="1100"/>
          </a:p>
        </p:txBody>
      </p:sp>
      <p:sp>
        <p:nvSpPr>
          <p:cNvPr name="AutoShape 21" id="21"/>
          <p:cNvSpPr/>
          <p:nvPr/>
        </p:nvSpPr>
        <p:spPr>
          <a:xfrm rot="0" flipH="false" flipV="false">
            <a:off x="7531100" y="2794000"/>
            <a:ext cx="1828800" cy="203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200">
                <a:solidFill>
                  <a:srgbClr val="1F2937"/>
                </a:solidFill>
                <a:latin typeface="Noto Sans SC"/>
                <a:ea typeface="Noto Sans SC"/>
                <a:cs typeface="Noto Sans SC"/>
                <a:sym typeface="Noto Sans SC"/>
              </a:rPr>
              <a:t>具体工作：</a:t>
            </a:r>
            <a:r>
              <a:rPr lang="en-US" b="false" i="false" strike="noStrike" u="none" sz="1200">
                <a:solidFill>
                  <a:srgbClr val="4B5563"/>
                </a:solidFill>
                <a:latin typeface="Noto Sans SC"/>
                <a:ea typeface="Noto Sans SC"/>
                <a:cs typeface="Noto Sans SC"/>
                <a:sym typeface="Noto Sans SC"/>
              </a:rPr>
              <a:t>编写基础的数据清洗、可视化脚本</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true" i="false" strike="noStrike" u="none" sz="1200">
                <a:solidFill>
                  <a:srgbClr val="1F2937"/>
                </a:solidFill>
                <a:latin typeface="Noto Sans SC"/>
                <a:ea typeface="Noto Sans SC"/>
                <a:cs typeface="Noto Sans SC"/>
                <a:sym typeface="Noto Sans SC"/>
              </a:rPr>
              <a:t>推荐工具：</a:t>
            </a:r>
            <a:r>
              <a:rPr lang="en-US" b="false" i="false" strike="noStrike" u="none" sz="1200">
                <a:solidFill>
                  <a:srgbClr val="4B5563"/>
                </a:solidFill>
                <a:latin typeface="Noto Sans SC"/>
                <a:ea typeface="Noto Sans SC"/>
                <a:cs typeface="Noto Sans SC"/>
                <a:sym typeface="Noto Sans SC"/>
              </a:rPr>
              <a:t>Cursor (AI编程助手) / ChatGPT</a:t>
            </a:r>
            <a:r>
              <a:rPr lang="en-US" b="false" i="false" strike="noStrike" u="none" sz="1600">
                <a:solidFill>
                  <a:srgbClr val="1F2329"/>
                </a:solidFill>
                <a:latin typeface="Noto Sans SC"/>
                <a:ea typeface="Noto Sans SC"/>
                <a:cs typeface="Noto Sans SC"/>
                <a:sym typeface="Noto Sans SC"/>
              </a:rPr>
              <a:t/>
            </a:r>
          </a:p>
          <a:p>
            <a:pPr algn="l" indent="0">
              <a:lnSpc>
                <a:spcPct val="108333"/>
              </a:lnSpc>
              <a:spcBef>
                <a:spcPts val="800"/>
              </a:spcBef>
            </a:pPr>
            <a:r>
              <a:rPr lang="en-US" b="true" i="false" strike="noStrike" u="none" sz="1200">
                <a:solidFill>
                  <a:srgbClr val="1F2937"/>
                </a:solidFill>
                <a:latin typeface="Noto Sans SC"/>
                <a:ea typeface="Noto Sans SC"/>
                <a:cs typeface="Noto Sans SC"/>
                <a:sym typeface="Noto Sans SC"/>
              </a:rPr>
              <a:t>⏱ 预计节省：</a:t>
            </a:r>
            <a:r>
              <a:rPr lang="en-US" b="true" i="false" strike="noStrike" u="none" sz="1400">
                <a:solidFill>
                  <a:srgbClr val="D97706"/>
                </a:solidFill>
                <a:latin typeface="Noto Sans SC"/>
                <a:ea typeface="Noto Sans SC"/>
                <a:cs typeface="Noto Sans SC"/>
                <a:sym typeface="Noto Sans SC"/>
              </a:rPr>
              <a:t>2-8 小时</a:t>
            </a:r>
          </a:p>
        </p:txBody>
      </p:sp>
      <p:sp>
        <p:nvSpPr>
          <p:cNvPr name="AutoShape 22" id="22"/>
          <p:cNvSpPr/>
          <p:nvPr/>
        </p:nvSpPr>
        <p:spPr>
          <a:xfrm rot="0" flipH="false" flipV="false">
            <a:off x="9702800" y="2032000"/>
            <a:ext cx="2082800" cy="3048000"/>
          </a:xfrm>
          <a:prstGeom prst="roundRect">
            <a:avLst>
              <a:gd name="adj" fmla="val 4878"/>
            </a:avLst>
          </a:prstGeom>
          <a:solidFill>
            <a:srgbClr val="EFF6FF">
              <a:alpha val="100000"/>
            </a:srgbClr>
          </a:solidFill>
          <a:ln w="12700" cmpd="sng" cap="flat">
            <a:solidFill>
              <a:srgbClr val="BFDBFE">
                <a:alpha val="100000"/>
              </a:srgbClr>
            </a:solid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9702800" y="2032000"/>
            <a:ext cx="2082800" cy="508000"/>
          </a:xfrm>
          <a:prstGeom prst="roundRect">
            <a:avLst>
              <a:gd name="adj" fmla="val 0"/>
            </a:avLst>
          </a:prstGeom>
          <a:solidFill>
            <a:srgbClr val="EC48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9766300" y="2108200"/>
            <a:ext cx="1955800" cy="3556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FFFF"/>
                </a:solidFill>
                <a:latin typeface="Noto Sans SC"/>
                <a:ea typeface="Noto Sans SC"/>
                <a:cs typeface="Noto Sans SC"/>
                <a:sym typeface="Noto Sans SC"/>
              </a:rPr>
              <a:t>💬 审稿回复</a:t>
            </a:r>
            <a:endParaRPr lang="en-US" sz="1100"/>
          </a:p>
        </p:txBody>
      </p:sp>
      <p:sp>
        <p:nvSpPr>
          <p:cNvPr name="AutoShape 25" id="25"/>
          <p:cNvSpPr/>
          <p:nvPr/>
        </p:nvSpPr>
        <p:spPr>
          <a:xfrm rot="0" flipH="false" flipV="false">
            <a:off x="9829800" y="2794000"/>
            <a:ext cx="1828800" cy="203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200">
                <a:solidFill>
                  <a:srgbClr val="1F2937"/>
                </a:solidFill>
                <a:latin typeface="Noto Sans SC"/>
                <a:ea typeface="Noto Sans SC"/>
                <a:cs typeface="Noto Sans SC"/>
                <a:sym typeface="Noto Sans SC"/>
              </a:rPr>
              <a:t>具体工作：</a:t>
            </a:r>
            <a:r>
              <a:rPr lang="en-US" b="false" i="false" strike="noStrike" u="none" sz="1200">
                <a:solidFill>
                  <a:srgbClr val="4B5563"/>
                </a:solidFill>
                <a:latin typeface="Noto Sans SC"/>
                <a:ea typeface="Noto Sans SC"/>
                <a:cs typeface="Noto Sans SC"/>
                <a:sym typeface="Noto Sans SC"/>
              </a:rPr>
              <a:t>格式化回复信，逐条列出对审稿意见的回应</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true" i="false" strike="noStrike" u="none" sz="1200">
                <a:solidFill>
                  <a:srgbClr val="1F2937"/>
                </a:solidFill>
                <a:latin typeface="Noto Sans SC"/>
                <a:ea typeface="Noto Sans SC"/>
                <a:cs typeface="Noto Sans SC"/>
                <a:sym typeface="Noto Sans SC"/>
              </a:rPr>
              <a:t>推荐工具：</a:t>
            </a:r>
            <a:r>
              <a:rPr lang="en-US" b="false" i="false" strike="noStrike" u="none" sz="1200">
                <a:solidFill>
                  <a:srgbClr val="4B5563"/>
                </a:solidFill>
                <a:latin typeface="Noto Sans SC"/>
                <a:ea typeface="Noto Sans SC"/>
                <a:cs typeface="Noto Sans SC"/>
                <a:sym typeface="Noto Sans SC"/>
              </a:rPr>
              <a:t>Claude / GPT-4</a:t>
            </a:r>
            <a:r>
              <a:rPr lang="en-US" b="false" i="false" strike="noStrike" u="none" sz="1600">
                <a:solidFill>
                  <a:srgbClr val="1F2329"/>
                </a:solidFill>
                <a:latin typeface="Noto Sans SC"/>
                <a:ea typeface="Noto Sans SC"/>
                <a:cs typeface="Noto Sans SC"/>
                <a:sym typeface="Noto Sans SC"/>
              </a:rPr>
              <a:t/>
            </a:r>
          </a:p>
          <a:p>
            <a:pPr algn="l" indent="0">
              <a:lnSpc>
                <a:spcPct val="108333"/>
              </a:lnSpc>
              <a:spcBef>
                <a:spcPts val="800"/>
              </a:spcBef>
            </a:pPr>
            <a:r>
              <a:rPr lang="en-US" b="true" i="false" strike="noStrike" u="none" sz="1200">
                <a:solidFill>
                  <a:srgbClr val="1F2937"/>
                </a:solidFill>
                <a:latin typeface="Noto Sans SC"/>
                <a:ea typeface="Noto Sans SC"/>
                <a:cs typeface="Noto Sans SC"/>
                <a:sym typeface="Noto Sans SC"/>
              </a:rPr>
              <a:t>⏱ 预计节省：</a:t>
            </a:r>
            <a:r>
              <a:rPr lang="en-US" b="true" i="false" strike="noStrike" u="none" sz="1400">
                <a:solidFill>
                  <a:srgbClr val="D97706"/>
                </a:solidFill>
                <a:latin typeface="Noto Sans SC"/>
                <a:ea typeface="Noto Sans SC"/>
                <a:cs typeface="Noto Sans SC"/>
                <a:sym typeface="Noto Sans SC"/>
              </a:rPr>
              <a:t>2-3 小时</a:t>
            </a:r>
          </a:p>
        </p:txBody>
      </p:sp>
      <p:sp>
        <p:nvSpPr>
          <p:cNvPr name="AutoShape 26" id="26"/>
          <p:cNvSpPr/>
          <p:nvPr/>
        </p:nvSpPr>
        <p:spPr>
          <a:xfrm rot="0" flipH="false" flipV="false">
            <a:off x="508000" y="5461000"/>
            <a:ext cx="11277600" cy="1016000"/>
          </a:xfrm>
          <a:prstGeom prst="roundRect">
            <a:avLst>
              <a:gd name="adj" fmla="val 15000"/>
            </a:avLst>
          </a:prstGeom>
          <a:solidFill>
            <a:srgbClr val="FEF3C7">
              <a:alpha val="100000"/>
            </a:srgbClr>
          </a:solidFill>
          <a:ln w="25400" cmpd="sng" cap="flat">
            <a:solidFill>
              <a:srgbClr val="F59E0B">
                <a:alpha val="100000"/>
              </a:srgbClr>
            </a:solidFill>
            <a:prstDash val="solid"/>
            <a:round/>
          </a:ln>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508000" y="5588000"/>
            <a:ext cx="112776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B45309"/>
                </a:solidFill>
                <a:latin typeface="Noto Sans SC"/>
                <a:ea typeface="Noto Sans SC"/>
                <a:cs typeface="Noto Sans SC"/>
                <a:sym typeface="Noto Sans SC"/>
              </a:rPr>
              <a:t>💡 综合估算：每篇论文，仅在机械性工作上，就可以节省至少</a:t>
            </a:r>
            <a:r>
              <a:rPr lang="en-US" b="true" i="false" strike="noStrike" u="none" sz="2800">
                <a:solidFill>
                  <a:srgbClr val="DC2626"/>
                </a:solidFill>
                <a:latin typeface="Noto Sans SC"/>
                <a:ea typeface="Noto Sans SC"/>
                <a:cs typeface="Noto Sans SC"/>
                <a:sym typeface="Noto Sans SC"/>
              </a:rPr>
              <a:t>10-25 小时！</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3F4F6">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381000"/>
            <a:ext cx="863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800">
                <a:solidFill>
                  <a:srgbClr val="172B4D"/>
                </a:solidFill>
                <a:latin typeface="Noto Sans SC"/>
                <a:ea typeface="Noto Sans SC"/>
                <a:cs typeface="Noto Sans SC"/>
                <a:sym typeface="Noto Sans SC"/>
              </a:rPr>
              <a:t>演示：如何用AI在5分钟内生成高质量英文摘要</a:t>
            </a:r>
            <a:endParaRPr lang="en-US" sz="1100"/>
          </a:p>
        </p:txBody>
      </p:sp>
      <p:sp>
        <p:nvSpPr>
          <p:cNvPr name="AutoShape 3" id="3"/>
          <p:cNvSpPr/>
          <p:nvPr/>
        </p:nvSpPr>
        <p:spPr>
          <a:xfrm rot="0" flipH="false" flipV="false">
            <a:off x="508000" y="1016000"/>
            <a:ext cx="863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5E6C84"/>
                </a:solidFill>
                <a:latin typeface="Noto Sans SC"/>
                <a:ea typeface="Noto Sans SC"/>
                <a:cs typeface="Noto Sans SC"/>
                <a:sym typeface="Noto Sans SC"/>
              </a:rPr>
              <a:t>（现场操作演示 · 6步快速搞定学术摘要）</a:t>
            </a:r>
            <a:endParaRPr lang="en-US" sz="1100"/>
          </a:p>
        </p:txBody>
      </p:sp>
      <p:pic>
        <p:nvPicPr>
          <p:cNvPr name="Picture 4" id="4"/>
          <p:cNvPicPr>
            <a:picLocks noChangeAspect="true"/>
          </p:cNvPicPr>
          <p:nvPr/>
        </p:nvPicPr>
        <p:blipFill>
          <a:blip r:embed="rId2"/>
          <a:srcRect l="0" r="0" t="0" b="0"/>
          <a:stretch>
            <a:fillRect/>
          </a:stretch>
        </p:blipFill>
        <p:spPr>
          <a:xfrm rot="0" flipH="false" flipV="false">
            <a:off x="9398000" y="317500"/>
            <a:ext cx="889000" cy="889000"/>
          </a:xfrm>
          <a:prstGeom prst="rect">
            <a:avLst/>
          </a:prstGeom>
          <a:noFill/>
          <a:ln w="25400" cmpd="sng" cap="flat">
            <a:noFill/>
            <a:prstDash val="solid"/>
            <a:round/>
          </a:ln>
        </p:spPr>
      </p:pic>
      <p:pic>
        <p:nvPicPr>
          <p:cNvPr name="Picture 5" id="5"/>
          <p:cNvPicPr>
            <a:picLocks noChangeAspect="true"/>
          </p:cNvPicPr>
          <p:nvPr/>
        </p:nvPicPr>
        <p:blipFill>
          <a:blip r:embed="rId3"/>
          <a:srcRect l="775" r="775" t="0" b="0"/>
          <a:stretch>
            <a:fillRect/>
          </a:stretch>
        </p:blipFill>
        <p:spPr>
          <a:xfrm rot="0" flipH="false" flipV="false">
            <a:off x="10541000" y="317500"/>
            <a:ext cx="889000" cy="889000"/>
          </a:xfrm>
          <a:prstGeom prst="rect">
            <a:avLst/>
          </a:prstGeom>
          <a:noFill/>
          <a:ln w="25400" cmpd="sng" cap="flat">
            <a:noFill/>
            <a:prstDash val="solid"/>
            <a:round/>
          </a:ln>
        </p:spPr>
      </p:pic>
      <p:sp>
        <p:nvSpPr>
          <p:cNvPr name="AutoShape 6" id="6"/>
          <p:cNvSpPr/>
          <p:nvPr/>
        </p:nvSpPr>
        <p:spPr>
          <a:xfrm rot="0" flipH="false" flipV="false">
            <a:off x="508000" y="1905000"/>
            <a:ext cx="5461000" cy="1397000"/>
          </a:xfrm>
          <a:prstGeom prst="roundRect">
            <a:avLst>
              <a:gd name="adj" fmla="val 7272"/>
            </a:avLst>
          </a:prstGeom>
          <a:solidFill>
            <a:srgbClr val="FFFFFF">
              <a:alpha val="100000"/>
            </a:srgbClr>
          </a:solidFill>
          <a:ln w="12700" cmpd="sng" cap="flat">
            <a:solidFill>
              <a:srgbClr val="DEE0E3">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7" id="7"/>
          <p:cNvSpPr/>
          <p:nvPr/>
        </p:nvSpPr>
        <p:spPr>
          <a:xfrm rot="0" flipH="false" flipV="false">
            <a:off x="508000" y="1905000"/>
            <a:ext cx="76200" cy="1397000"/>
          </a:xfrm>
          <a:prstGeom prst="roundRect">
            <a:avLst>
              <a:gd name="adj" fmla="val 0"/>
            </a:avLst>
          </a:prstGeom>
          <a:solidFill>
            <a:srgbClr val="00699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762000" y="2032000"/>
            <a:ext cx="4953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6994"/>
                </a:solidFill>
                <a:latin typeface="Noto Sans SC"/>
                <a:ea typeface="Noto Sans SC"/>
                <a:cs typeface="Noto Sans SC"/>
                <a:sym typeface="Noto Sans SC"/>
              </a:rPr>
              <a:t>01. 准备输入内容</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434343"/>
                </a:solidFill>
                <a:latin typeface="Noto Sans SC"/>
                <a:ea typeface="Noto Sans SC"/>
                <a:cs typeface="Noto Sans SC"/>
                <a:sym typeface="Noto Sans SC"/>
              </a:rPr>
              <a:t>打开论文草稿，精准复制并整合：引言（研究背景与问题）、方法（核心技术路径）、结果（关键数据支撑）、结论（主要贡献与意义）的核心段落。</a:t>
            </a:r>
          </a:p>
        </p:txBody>
      </p:sp>
      <p:sp>
        <p:nvSpPr>
          <p:cNvPr name="AutoShape 9" id="9"/>
          <p:cNvSpPr/>
          <p:nvPr/>
        </p:nvSpPr>
        <p:spPr>
          <a:xfrm rot="0" flipH="false" flipV="false">
            <a:off x="508000" y="3556000"/>
            <a:ext cx="5461000" cy="1397000"/>
          </a:xfrm>
          <a:prstGeom prst="roundRect">
            <a:avLst>
              <a:gd name="adj" fmla="val 7272"/>
            </a:avLst>
          </a:prstGeom>
          <a:solidFill>
            <a:srgbClr val="FFFFFF">
              <a:alpha val="100000"/>
            </a:srgbClr>
          </a:solidFill>
          <a:ln w="12700" cmpd="sng" cap="flat">
            <a:solidFill>
              <a:srgbClr val="DEE0E3">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508000" y="3556000"/>
            <a:ext cx="76200" cy="1397000"/>
          </a:xfrm>
          <a:prstGeom prst="roundRect">
            <a:avLst>
              <a:gd name="adj" fmla="val 0"/>
            </a:avLst>
          </a:prstGeom>
          <a:solidFill>
            <a:srgbClr val="D44C4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762000" y="3683000"/>
            <a:ext cx="4953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D44C47"/>
                </a:solidFill>
                <a:latin typeface="Noto Sans SC"/>
                <a:ea typeface="Noto Sans SC"/>
                <a:cs typeface="Noto Sans SC"/>
                <a:sym typeface="Noto Sans SC"/>
              </a:rPr>
              <a:t>02. 选择并打开 AI 工具</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434343"/>
                </a:solidFill>
                <a:latin typeface="Noto Sans SC"/>
                <a:ea typeface="Noto Sans SC"/>
                <a:cs typeface="Noto Sans SC"/>
                <a:sym typeface="Noto Sans SC"/>
              </a:rPr>
              <a:t>推荐使用</a:t>
            </a:r>
            <a:r>
              <a:rPr lang="en-US" b="true" i="false" strike="noStrike" u="none" sz="1200">
                <a:solidFill>
                  <a:srgbClr val="434343"/>
                </a:solidFill>
                <a:latin typeface="Noto Sans SC"/>
                <a:ea typeface="Noto Sans SC"/>
                <a:cs typeface="Noto Sans SC"/>
                <a:sym typeface="Noto Sans SC"/>
              </a:rPr>
              <a:t>Claude.ai</a:t>
            </a:r>
            <a:r>
              <a:rPr lang="en-US" b="false" i="false" strike="noStrike" u="none" sz="1200">
                <a:solidFill>
                  <a:srgbClr val="434343"/>
                </a:solidFill>
                <a:latin typeface="Noto Sans SC"/>
                <a:ea typeface="Noto Sans SC"/>
                <a:cs typeface="Noto Sans SC"/>
                <a:sym typeface="Noto Sans SC"/>
              </a:rPr>
              <a:t>或</a:t>
            </a:r>
            <a:r>
              <a:rPr lang="en-US" b="true" i="false" strike="noStrike" u="none" sz="1200">
                <a:solidFill>
                  <a:srgbClr val="434343"/>
                </a:solidFill>
                <a:latin typeface="Noto Sans SC"/>
                <a:ea typeface="Noto Sans SC"/>
                <a:cs typeface="Noto Sans SC"/>
                <a:sym typeface="Noto Sans SC"/>
              </a:rPr>
              <a:t>DeepSeek</a:t>
            </a:r>
            <a:r>
              <a:rPr lang="en-US" b="false" i="false" strike="noStrike" u="none" sz="1200">
                <a:solidFill>
                  <a:srgbClr val="434343"/>
                </a:solidFill>
                <a:latin typeface="Noto Sans SC"/>
                <a:ea typeface="Noto Sans SC"/>
                <a:cs typeface="Noto Sans SC"/>
                <a:sym typeface="Noto Sans SC"/>
              </a:rPr>
              <a:t>等专业大语言模型平台，确保文本处理能力和格式准确性。</a:t>
            </a:r>
          </a:p>
        </p:txBody>
      </p:sp>
      <p:sp>
        <p:nvSpPr>
          <p:cNvPr name="AutoShape 12" id="12"/>
          <p:cNvSpPr/>
          <p:nvPr/>
        </p:nvSpPr>
        <p:spPr>
          <a:xfrm rot="0" flipH="false" flipV="false">
            <a:off x="508000" y="5207000"/>
            <a:ext cx="5461000" cy="1397000"/>
          </a:xfrm>
          <a:prstGeom prst="roundRect">
            <a:avLst>
              <a:gd name="adj" fmla="val 7272"/>
            </a:avLst>
          </a:prstGeom>
          <a:solidFill>
            <a:srgbClr val="FFFFFF">
              <a:alpha val="100000"/>
            </a:srgbClr>
          </a:solidFill>
          <a:ln w="12700" cmpd="sng" cap="flat">
            <a:solidFill>
              <a:srgbClr val="DEE0E3">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508000" y="5207000"/>
            <a:ext cx="76200" cy="1397000"/>
          </a:xfrm>
          <a:prstGeom prst="roundRect">
            <a:avLst>
              <a:gd name="adj" fmla="val 0"/>
            </a:avLst>
          </a:prstGeom>
          <a:solidFill>
            <a:srgbClr val="008543">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762000" y="5334000"/>
            <a:ext cx="4953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8543"/>
                </a:solidFill>
                <a:latin typeface="Noto Sans SC"/>
                <a:ea typeface="Noto Sans SC"/>
                <a:cs typeface="Noto Sans SC"/>
                <a:sym typeface="Noto Sans SC"/>
              </a:rPr>
              <a:t>03. 输入精准 Prompt 指令</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100">
                <a:solidFill>
                  <a:srgbClr val="434343"/>
                </a:solidFill>
                <a:latin typeface="Noto Sans SC"/>
                <a:ea typeface="Noto Sans SC"/>
                <a:cs typeface="Noto Sans SC"/>
                <a:sym typeface="Noto Sans SC"/>
              </a:rPr>
              <a:t>粘贴文本后输入：“生成一份150-200词的英文摘要。严格遵循 IMRaD 结构，突出研究核心贡献与创新点，语言正式客观，符合顶级期刊规范。”</a:t>
            </a:r>
          </a:p>
        </p:txBody>
      </p:sp>
      <p:sp>
        <p:nvSpPr>
          <p:cNvPr name="AutoShape 15" id="15"/>
          <p:cNvSpPr/>
          <p:nvPr/>
        </p:nvSpPr>
        <p:spPr>
          <a:xfrm rot="0" flipH="false" flipV="false">
            <a:off x="6223000" y="1905000"/>
            <a:ext cx="5461000" cy="1397000"/>
          </a:xfrm>
          <a:prstGeom prst="roundRect">
            <a:avLst>
              <a:gd name="adj" fmla="val 7272"/>
            </a:avLst>
          </a:prstGeom>
          <a:solidFill>
            <a:srgbClr val="FFFFFF">
              <a:alpha val="100000"/>
            </a:srgbClr>
          </a:solidFill>
          <a:ln w="12700" cmpd="sng" cap="flat">
            <a:solidFill>
              <a:srgbClr val="DEE0E3">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223000" y="1905000"/>
            <a:ext cx="76200" cy="1397000"/>
          </a:xfrm>
          <a:prstGeom prst="roundRect">
            <a:avLst>
              <a:gd name="adj" fmla="val 0"/>
            </a:avLst>
          </a:prstGeom>
          <a:solidFill>
            <a:srgbClr val="ED893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477000" y="2032000"/>
            <a:ext cx="4953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ED8936"/>
                </a:solidFill>
                <a:latin typeface="Noto Sans SC"/>
                <a:ea typeface="Noto Sans SC"/>
                <a:cs typeface="Noto Sans SC"/>
                <a:sym typeface="Noto Sans SC"/>
              </a:rPr>
              <a:t>04. AI 生成摘要初稿</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434343"/>
                </a:solidFill>
                <a:latin typeface="Noto Sans SC"/>
                <a:ea typeface="Noto Sans SC"/>
                <a:cs typeface="Noto Sans SC"/>
                <a:sym typeface="Noto Sans SC"/>
              </a:rPr>
              <a:t>大模型将根据指令，在数秒内生成一份结构完整、逻辑清晰、语言流畅的摘要初稿。这一步可以直接产出“可用的半成品”，节省80%的时间。</a:t>
            </a:r>
          </a:p>
        </p:txBody>
      </p:sp>
      <p:sp>
        <p:nvSpPr>
          <p:cNvPr name="AutoShape 18" id="18"/>
          <p:cNvSpPr/>
          <p:nvPr/>
        </p:nvSpPr>
        <p:spPr>
          <a:xfrm rot="0" flipH="false" flipV="false">
            <a:off x="6223000" y="3556000"/>
            <a:ext cx="5461000" cy="1397000"/>
          </a:xfrm>
          <a:prstGeom prst="roundRect">
            <a:avLst>
              <a:gd name="adj" fmla="val 7272"/>
            </a:avLst>
          </a:prstGeom>
          <a:solidFill>
            <a:srgbClr val="FFFFFF">
              <a:alpha val="100000"/>
            </a:srgbClr>
          </a:solidFill>
          <a:ln w="12700" cmpd="sng" cap="flat">
            <a:solidFill>
              <a:srgbClr val="DEE0E3">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223000" y="3556000"/>
            <a:ext cx="76200" cy="1397000"/>
          </a:xfrm>
          <a:prstGeom prst="roundRect">
            <a:avLst>
              <a:gd name="adj" fmla="val 0"/>
            </a:avLst>
          </a:prstGeom>
          <a:solidFill>
            <a:srgbClr val="76717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6477000" y="3683000"/>
            <a:ext cx="4953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767171"/>
                </a:solidFill>
                <a:latin typeface="Noto Sans SC"/>
                <a:ea typeface="Noto Sans SC"/>
                <a:cs typeface="Noto Sans SC"/>
                <a:sym typeface="Noto Sans SC"/>
              </a:rPr>
              <a:t>05. 针对性迭代与优化</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434343"/>
                </a:solidFill>
                <a:latin typeface="Noto Sans SC"/>
                <a:ea typeface="Noto Sans SC"/>
                <a:cs typeface="Noto Sans SC"/>
                <a:sym typeface="Noto Sans SC"/>
              </a:rPr>
              <a:t>阅读初稿后进行微调：若结果不够具体，可输入二次指令：“请在结果部分，强调提出的算法在X指标上比基线提升15%的关键发现”，进行精准修正。</a:t>
            </a:r>
          </a:p>
        </p:txBody>
      </p:sp>
      <p:sp>
        <p:nvSpPr>
          <p:cNvPr name="AutoShape 21" id="21"/>
          <p:cNvSpPr/>
          <p:nvPr/>
        </p:nvSpPr>
        <p:spPr>
          <a:xfrm rot="0" flipH="false" flipV="false">
            <a:off x="6223000" y="5207000"/>
            <a:ext cx="5461000" cy="1397000"/>
          </a:xfrm>
          <a:prstGeom prst="roundRect">
            <a:avLst>
              <a:gd name="adj" fmla="val 7272"/>
            </a:avLst>
          </a:prstGeom>
          <a:solidFill>
            <a:srgbClr val="FFFFFF">
              <a:alpha val="100000"/>
            </a:srgbClr>
          </a:solidFill>
          <a:ln w="12700" cmpd="sng" cap="flat">
            <a:solidFill>
              <a:srgbClr val="DEE0E3">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6223000" y="5207000"/>
            <a:ext cx="76200" cy="1397000"/>
          </a:xfrm>
          <a:prstGeom prst="roundRect">
            <a:avLst>
              <a:gd name="adj" fmla="val 0"/>
            </a:avLst>
          </a:prstGeom>
          <a:solidFill>
            <a:srgbClr val="64B5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6477000" y="5334000"/>
            <a:ext cx="4953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64B5F6"/>
                </a:solidFill>
                <a:latin typeface="Noto Sans SC"/>
                <a:ea typeface="Noto Sans SC"/>
                <a:cs typeface="Noto Sans SC"/>
                <a:sym typeface="Noto Sans SC"/>
              </a:rPr>
              <a:t>06. 语法与风格的最终润色</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434343"/>
                </a:solidFill>
                <a:latin typeface="Noto Sans SC"/>
                <a:ea typeface="Noto Sans SC"/>
                <a:cs typeface="Noto Sans SC"/>
                <a:sym typeface="Noto Sans SC"/>
              </a:rPr>
              <a:t>将最终版文本复制到</a:t>
            </a:r>
            <a:r>
              <a:rPr lang="en-US" b="true" i="false" strike="noStrike" u="none" sz="1200">
                <a:solidFill>
                  <a:srgbClr val="434343"/>
                </a:solidFill>
                <a:latin typeface="Noto Sans SC"/>
                <a:ea typeface="Noto Sans SC"/>
                <a:cs typeface="Noto Sans SC"/>
                <a:sym typeface="Noto Sans SC"/>
              </a:rPr>
              <a:t>Grammarly</a:t>
            </a:r>
            <a:r>
              <a:rPr lang="en-US" b="false" i="false" strike="noStrike" u="none" sz="1200">
                <a:solidFill>
                  <a:srgbClr val="434343"/>
                </a:solidFill>
                <a:latin typeface="Noto Sans SC"/>
                <a:ea typeface="Noto Sans SC"/>
                <a:cs typeface="Noto Sans SC"/>
                <a:sym typeface="Noto Sans SC"/>
              </a:rPr>
              <a:t>或 Word 的拼写检查工具中，进行最后一轮语法纠错和学术风格校准，确保零失误。</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381000"/>
            <a:ext cx="9144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800">
                <a:solidFill>
                  <a:srgbClr val="0D6EFD"/>
                </a:solidFill>
                <a:latin typeface="Noto Sans SC"/>
                <a:ea typeface="Noto Sans SC"/>
                <a:cs typeface="Noto Sans SC"/>
                <a:sym typeface="Noto Sans SC"/>
              </a:rPr>
              <a:t>提升洞察力：AI辅助处理分析性工作</a:t>
            </a:r>
            <a:endParaRPr lang="en-US" sz="1100"/>
          </a:p>
        </p:txBody>
      </p:sp>
      <p:pic>
        <p:nvPicPr>
          <p:cNvPr name="Picture 3" id="3"/>
          <p:cNvPicPr>
            <a:picLocks noChangeAspect="true"/>
          </p:cNvPicPr>
          <p:nvPr/>
        </p:nvPicPr>
        <p:blipFill>
          <a:blip r:embed="rId2"/>
          <a:srcRect l="0" r="0" t="0" b="0"/>
          <a:stretch>
            <a:fillRect/>
          </a:stretch>
        </p:blipFill>
        <p:spPr>
          <a:xfrm rot="0" flipH="false" flipV="false">
            <a:off x="9779000" y="317500"/>
            <a:ext cx="762000" cy="762000"/>
          </a:xfrm>
          <a:prstGeom prst="rect">
            <a:avLst/>
          </a:prstGeom>
          <a:noFill/>
          <a:ln w="25400" cmpd="sng" cap="flat">
            <a:noFill/>
            <a:prstDash val="solid"/>
            <a:round/>
          </a:ln>
        </p:spPr>
      </p:pic>
      <p:pic>
        <p:nvPicPr>
          <p:cNvPr name="Picture 4" id="4"/>
          <p:cNvPicPr>
            <a:picLocks noChangeAspect="true"/>
          </p:cNvPicPr>
          <p:nvPr/>
        </p:nvPicPr>
        <p:blipFill>
          <a:blip r:embed="rId3"/>
          <a:srcRect l="775" r="775" t="0" b="0"/>
          <a:stretch>
            <a:fillRect/>
          </a:stretch>
        </p:blipFill>
        <p:spPr>
          <a:xfrm rot="0" flipH="false" flipV="false">
            <a:off x="10795000" y="317500"/>
            <a:ext cx="762000" cy="762000"/>
          </a:xfrm>
          <a:prstGeom prst="rect">
            <a:avLst/>
          </a:prstGeom>
          <a:noFill/>
          <a:ln w="25400" cmpd="sng" cap="flat">
            <a:noFill/>
            <a:prstDash val="solid"/>
            <a:round/>
          </a:ln>
        </p:spPr>
      </p:pic>
      <p:sp>
        <p:nvSpPr>
          <p:cNvPr name="AutoShape 5" id="5"/>
          <p:cNvSpPr/>
          <p:nvPr/>
        </p:nvSpPr>
        <p:spPr>
          <a:xfrm rot="0" flipH="false" flipV="false">
            <a:off x="508000" y="1206500"/>
            <a:ext cx="11176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400">
                <a:solidFill>
                  <a:srgbClr val="374151"/>
                </a:solidFill>
                <a:latin typeface="Noto Sans SC"/>
                <a:ea typeface="Noto Sans SC"/>
                <a:cs typeface="Noto Sans SC"/>
                <a:sym typeface="Noto Sans SC"/>
              </a:rPr>
              <a:t>对于中层的分析性工作，AI的角色从“执行者”转变为“高级研究助理”。它负责处理信息、生成初步框架，而你则聚焦于</a:t>
            </a:r>
            <a:r>
              <a:rPr lang="en-US" b="true" i="false" strike="noStrike" u="none" sz="1400">
                <a:solidFill>
                  <a:srgbClr val="374151"/>
                </a:solidFill>
                <a:latin typeface="Noto Sans SC"/>
                <a:ea typeface="Noto Sans SC"/>
                <a:cs typeface="Noto Sans SC"/>
                <a:sym typeface="Noto Sans SC"/>
              </a:rPr>
              <a:t>深度思考、逻辑判断与最终决策</a:t>
            </a:r>
            <a:r>
              <a:rPr lang="en-US" b="false" i="false" strike="noStrike" u="none" sz="1400">
                <a:solidFill>
                  <a:srgbClr val="374151"/>
                </a:solidFill>
                <a:latin typeface="Noto Sans SC"/>
                <a:ea typeface="Noto Sans SC"/>
                <a:cs typeface="Noto Sans SC"/>
                <a:sym typeface="Noto Sans SC"/>
              </a:rPr>
              <a:t>，让技术真正服务于创造性思维。</a:t>
            </a:r>
            <a:endParaRPr lang="en-US" sz="1100"/>
          </a:p>
        </p:txBody>
      </p:sp>
      <p:sp>
        <p:nvSpPr>
          <p:cNvPr name="AutoShape 6" id="6"/>
          <p:cNvSpPr/>
          <p:nvPr/>
        </p:nvSpPr>
        <p:spPr>
          <a:xfrm rot="0" flipH="false" flipV="false">
            <a:off x="508000" y="2159000"/>
            <a:ext cx="5461000" cy="2032000"/>
          </a:xfrm>
          <a:prstGeom prst="roundRect">
            <a:avLst>
              <a:gd name="adj" fmla="val 5000"/>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7" id="7"/>
          <p:cNvSpPr/>
          <p:nvPr/>
        </p:nvSpPr>
        <p:spPr>
          <a:xfrm rot="0" flipH="false" flipV="false">
            <a:off x="508000" y="2159000"/>
            <a:ext cx="76200" cy="2032000"/>
          </a:xfrm>
          <a:prstGeom prst="roundRect">
            <a:avLst>
              <a:gd name="adj" fmla="val 0"/>
            </a:avLst>
          </a:prstGeom>
          <a:solidFill>
            <a:srgbClr val="0D6EFD">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762000" y="2286000"/>
            <a:ext cx="4953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1F2937"/>
                </a:solidFill>
                <a:latin typeface="Noto Sans SC"/>
                <a:ea typeface="Noto Sans SC"/>
                <a:cs typeface="Noto Sans SC"/>
                <a:sym typeface="Noto Sans SC"/>
              </a:rPr>
              <a:t>📚 文献综述</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true" i="false" strike="noStrike" u="none" sz="1200">
                <a:solidFill>
                  <a:srgbClr val="3B82F6"/>
                </a:solidFill>
                <a:latin typeface="Noto Sans SC"/>
                <a:ea typeface="Noto Sans SC"/>
                <a:cs typeface="Noto Sans SC"/>
                <a:sym typeface="Noto Sans SC"/>
              </a:rPr>
              <a:t>🤖 AI角色：</a:t>
            </a:r>
            <a:r>
              <a:rPr lang="en-US" b="false" i="false" strike="noStrike" u="none" sz="1200">
                <a:solidFill>
                  <a:srgbClr val="4B5563"/>
                </a:solidFill>
                <a:latin typeface="Noto Sans SC"/>
                <a:ea typeface="Noto Sans SC"/>
                <a:cs typeface="Noto Sans SC"/>
                <a:sym typeface="Noto Sans SC"/>
              </a:rPr>
              <a:t>快速阅读多篇论文提取核心观点与结论；自动将文献归类主题；生成综述初步框架和大纲。</a:t>
            </a:r>
            <a:r>
              <a:rPr lang="en-US" b="false" i="false" strike="noStrike" u="none" sz="1600">
                <a:solidFill>
                  <a:srgbClr val="1F2329"/>
                </a:solidFill>
                <a:latin typeface="Noto Sans SC"/>
                <a:ea typeface="Noto Sans SC"/>
                <a:cs typeface="Noto Sans SC"/>
                <a:sym typeface="Noto Sans SC"/>
              </a:rPr>
              <a:t/>
            </a:r>
          </a:p>
          <a:p>
            <a:pPr algn="l" indent="0">
              <a:lnSpc>
                <a:spcPct val="108333"/>
              </a:lnSpc>
              <a:spcBef>
                <a:spcPts val="600"/>
              </a:spcBef>
            </a:pPr>
            <a:r>
              <a:rPr lang="en-US" b="true" i="false" strike="noStrike" u="none" sz="1200">
                <a:solidFill>
                  <a:srgbClr val="F97316"/>
                </a:solidFill>
                <a:latin typeface="Noto Sans SC"/>
                <a:ea typeface="Noto Sans SC"/>
                <a:cs typeface="Noto Sans SC"/>
                <a:sym typeface="Noto Sans SC"/>
              </a:rPr>
              <a:t>🧠 你的角色：</a:t>
            </a:r>
            <a:r>
              <a:rPr lang="en-US" b="false" i="false" strike="noStrike" u="none" sz="1200">
                <a:solidFill>
                  <a:srgbClr val="4B5563"/>
                </a:solidFill>
                <a:latin typeface="Noto Sans SC"/>
                <a:ea typeface="Noto Sans SC"/>
                <a:cs typeface="Noto Sans SC"/>
                <a:sym typeface="Noto Sans SC"/>
              </a:rPr>
              <a:t>判断AI归类准确性；评估文献间关联深度；提炼核心争议点与趋势；整合形成最终的综述逻辑。</a:t>
            </a:r>
          </a:p>
        </p:txBody>
      </p:sp>
      <p:sp>
        <p:nvSpPr>
          <p:cNvPr name="AutoShape 9" id="9"/>
          <p:cNvSpPr/>
          <p:nvPr/>
        </p:nvSpPr>
        <p:spPr>
          <a:xfrm rot="0" flipH="false" flipV="false">
            <a:off x="6223000" y="2159000"/>
            <a:ext cx="5461000" cy="2032000"/>
          </a:xfrm>
          <a:prstGeom prst="roundRect">
            <a:avLst>
              <a:gd name="adj" fmla="val 5000"/>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223000" y="2159000"/>
            <a:ext cx="76200" cy="20320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477000" y="2286000"/>
            <a:ext cx="4953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1F2937"/>
                </a:solidFill>
                <a:latin typeface="Noto Sans SC"/>
                <a:ea typeface="Noto Sans SC"/>
                <a:cs typeface="Noto Sans SC"/>
                <a:sym typeface="Noto Sans SC"/>
              </a:rPr>
              <a:t>⚗️ 实验方案对比</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true" i="false" strike="noStrike" u="none" sz="1200">
                <a:solidFill>
                  <a:srgbClr val="10B981"/>
                </a:solidFill>
                <a:latin typeface="Noto Sans SC"/>
                <a:ea typeface="Noto Sans SC"/>
                <a:cs typeface="Noto Sans SC"/>
                <a:sym typeface="Noto Sans SC"/>
              </a:rPr>
              <a:t>🤖 AI角色：</a:t>
            </a:r>
            <a:r>
              <a:rPr lang="en-US" b="false" i="false" strike="noStrike" u="none" sz="1200">
                <a:solidFill>
                  <a:srgbClr val="4B5563"/>
                </a:solidFill>
                <a:latin typeface="Noto Sans SC"/>
                <a:ea typeface="Noto Sans SC"/>
                <a:cs typeface="Noto Sans SC"/>
                <a:sym typeface="Noto Sans SC"/>
              </a:rPr>
              <a:t>根据要求，列出不同实验方案的技术细节、优缺点及适用场景，形成结构化对比表。</a:t>
            </a:r>
            <a:r>
              <a:rPr lang="en-US" b="false" i="false" strike="noStrike" u="none" sz="1600">
                <a:solidFill>
                  <a:srgbClr val="1F2329"/>
                </a:solidFill>
                <a:latin typeface="Noto Sans SC"/>
                <a:ea typeface="Noto Sans SC"/>
                <a:cs typeface="Noto Sans SC"/>
                <a:sym typeface="Noto Sans SC"/>
              </a:rPr>
              <a:t/>
            </a:r>
          </a:p>
          <a:p>
            <a:pPr algn="l" indent="0">
              <a:lnSpc>
                <a:spcPct val="108333"/>
              </a:lnSpc>
              <a:spcBef>
                <a:spcPts val="600"/>
              </a:spcBef>
            </a:pPr>
            <a:r>
              <a:rPr lang="en-US" b="true" i="false" strike="noStrike" u="none" sz="1200">
                <a:solidFill>
                  <a:srgbClr val="F97316"/>
                </a:solidFill>
                <a:latin typeface="Noto Sans SC"/>
                <a:ea typeface="Noto Sans SC"/>
                <a:cs typeface="Noto Sans SC"/>
                <a:sym typeface="Noto Sans SC"/>
              </a:rPr>
              <a:t>🧠 你的角色：</a:t>
            </a:r>
            <a:r>
              <a:rPr lang="en-US" b="false" i="false" strike="noStrike" u="none" sz="1200">
                <a:solidFill>
                  <a:srgbClr val="4B5563"/>
                </a:solidFill>
                <a:latin typeface="Noto Sans SC"/>
                <a:ea typeface="Noto Sans SC"/>
                <a:cs typeface="Noto Sans SC"/>
                <a:sym typeface="Noto Sans SC"/>
              </a:rPr>
              <a:t>运用领域知识决策最适方案；识别AI忽略的特定领域细微差别；结合研究目标进行最终定夺。</a:t>
            </a:r>
          </a:p>
        </p:txBody>
      </p:sp>
      <p:sp>
        <p:nvSpPr>
          <p:cNvPr name="AutoShape 12" id="12"/>
          <p:cNvSpPr/>
          <p:nvPr/>
        </p:nvSpPr>
        <p:spPr>
          <a:xfrm rot="0" flipH="false" flipV="false">
            <a:off x="508000" y="4445000"/>
            <a:ext cx="5461000" cy="2032000"/>
          </a:xfrm>
          <a:prstGeom prst="roundRect">
            <a:avLst>
              <a:gd name="adj" fmla="val 5000"/>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508000" y="4445000"/>
            <a:ext cx="76200" cy="2032000"/>
          </a:xfrm>
          <a:prstGeom prst="roundRect">
            <a:avLst>
              <a:gd name="adj" fmla="val 0"/>
            </a:avLst>
          </a:prstGeom>
          <a:solidFill>
            <a:srgbClr val="F59E0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762000" y="4572000"/>
            <a:ext cx="4953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1F2937"/>
                </a:solidFill>
                <a:latin typeface="Noto Sans SC"/>
                <a:ea typeface="Noto Sans SC"/>
                <a:cs typeface="Noto Sans SC"/>
                <a:sym typeface="Noto Sans SC"/>
              </a:rPr>
              <a:t>📊 结果解读</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true" i="false" strike="noStrike" u="none" sz="1200">
                <a:solidFill>
                  <a:srgbClr val="F59E0B"/>
                </a:solidFill>
                <a:latin typeface="Noto Sans SC"/>
                <a:ea typeface="Noto Sans SC"/>
                <a:cs typeface="Noto Sans SC"/>
                <a:sym typeface="Noto Sans SC"/>
              </a:rPr>
              <a:t>🤖 AI角色：</a:t>
            </a:r>
            <a:r>
              <a:rPr lang="en-US" b="false" i="false" strike="noStrike" u="none" sz="1200">
                <a:solidFill>
                  <a:srgbClr val="4B5563"/>
                </a:solidFill>
                <a:latin typeface="Noto Sans SC"/>
                <a:ea typeface="Noto Sans SC"/>
                <a:cs typeface="Noto Sans SC"/>
                <a:sym typeface="Noto Sans SC"/>
              </a:rPr>
              <a:t>根据原始数据和图表，生成初步的文字描述和基础解释，标注明显的数据趋势。</a:t>
            </a:r>
            <a:r>
              <a:rPr lang="en-US" b="false" i="false" strike="noStrike" u="none" sz="1600">
                <a:solidFill>
                  <a:srgbClr val="1F2329"/>
                </a:solidFill>
                <a:latin typeface="Noto Sans SC"/>
                <a:ea typeface="Noto Sans SC"/>
                <a:cs typeface="Noto Sans SC"/>
                <a:sym typeface="Noto Sans SC"/>
              </a:rPr>
              <a:t/>
            </a:r>
          </a:p>
          <a:p>
            <a:pPr algn="l" indent="0">
              <a:lnSpc>
                <a:spcPct val="108333"/>
              </a:lnSpc>
              <a:spcBef>
                <a:spcPts val="600"/>
              </a:spcBef>
            </a:pPr>
            <a:r>
              <a:rPr lang="en-US" b="true" i="false" strike="noStrike" u="none" sz="1200">
                <a:solidFill>
                  <a:srgbClr val="F97316"/>
                </a:solidFill>
                <a:latin typeface="Noto Sans SC"/>
                <a:ea typeface="Noto Sans SC"/>
                <a:cs typeface="Noto Sans SC"/>
                <a:sym typeface="Noto Sans SC"/>
              </a:rPr>
              <a:t>🧠 你的角色：</a:t>
            </a:r>
            <a:r>
              <a:rPr lang="en-US" b="false" i="false" strike="noStrike" u="none" sz="1200">
                <a:solidFill>
                  <a:srgbClr val="4B5563"/>
                </a:solidFill>
                <a:latin typeface="Noto Sans SC"/>
                <a:ea typeface="Noto Sans SC"/>
                <a:cs typeface="Noto Sans SC"/>
                <a:sym typeface="Noto Sans SC"/>
              </a:rPr>
              <a:t>修正AI语境偏差或过度解读；提炼深层科学意义；构思如何将结果与引言研究问题逻辑闭环。</a:t>
            </a:r>
          </a:p>
        </p:txBody>
      </p:sp>
      <p:sp>
        <p:nvSpPr>
          <p:cNvPr name="AutoShape 15" id="15"/>
          <p:cNvSpPr/>
          <p:nvPr/>
        </p:nvSpPr>
        <p:spPr>
          <a:xfrm rot="0" flipH="false" flipV="false">
            <a:off x="6223000" y="4445000"/>
            <a:ext cx="5461000" cy="2032000"/>
          </a:xfrm>
          <a:prstGeom prst="roundRect">
            <a:avLst>
              <a:gd name="adj" fmla="val 5000"/>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223000" y="4445000"/>
            <a:ext cx="76200" cy="2032000"/>
          </a:xfrm>
          <a:prstGeom prst="roundRect">
            <a:avLst>
              <a:gd name="adj" fmla="val 0"/>
            </a:avLst>
          </a:prstGeom>
          <a:solidFill>
            <a:srgbClr val="8B5C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477000" y="4572000"/>
            <a:ext cx="4953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1F2937"/>
                </a:solidFill>
                <a:latin typeface="Noto Sans SC"/>
                <a:ea typeface="Noto Sans SC"/>
                <a:cs typeface="Noto Sans SC"/>
                <a:sym typeface="Noto Sans SC"/>
              </a:rPr>
              <a:t>✍️ Reviewer 回复</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true" i="false" strike="noStrike" u="none" sz="1200">
                <a:solidFill>
                  <a:srgbClr val="8B5CF6"/>
                </a:solidFill>
                <a:latin typeface="Noto Sans SC"/>
                <a:ea typeface="Noto Sans SC"/>
                <a:cs typeface="Noto Sans SC"/>
                <a:sym typeface="Noto Sans SC"/>
              </a:rPr>
              <a:t>🤖 AI角色：</a:t>
            </a:r>
            <a:r>
              <a:rPr lang="en-US" b="false" i="false" strike="noStrike" u="none" sz="1200">
                <a:solidFill>
                  <a:srgbClr val="4B5563"/>
                </a:solidFill>
                <a:latin typeface="Noto Sans SC"/>
                <a:ea typeface="Noto Sans SC"/>
                <a:cs typeface="Noto Sans SC"/>
                <a:sym typeface="Noto Sans SC"/>
              </a:rPr>
              <a:t>快速阅读审稿意见，梳理意见分类，生成回应的逻辑框架和初步草稿。</a:t>
            </a:r>
            <a:r>
              <a:rPr lang="en-US" b="false" i="false" strike="noStrike" u="none" sz="1600">
                <a:solidFill>
                  <a:srgbClr val="1F2329"/>
                </a:solidFill>
                <a:latin typeface="Noto Sans SC"/>
                <a:ea typeface="Noto Sans SC"/>
                <a:cs typeface="Noto Sans SC"/>
                <a:sym typeface="Noto Sans SC"/>
              </a:rPr>
              <a:t/>
            </a:r>
          </a:p>
          <a:p>
            <a:pPr algn="l" indent="0">
              <a:lnSpc>
                <a:spcPct val="108333"/>
              </a:lnSpc>
              <a:spcBef>
                <a:spcPts val="600"/>
              </a:spcBef>
            </a:pPr>
            <a:r>
              <a:rPr lang="en-US" b="true" i="false" strike="noStrike" u="none" sz="1200">
                <a:solidFill>
                  <a:srgbClr val="F97316"/>
                </a:solidFill>
                <a:latin typeface="Noto Sans SC"/>
                <a:ea typeface="Noto Sans SC"/>
                <a:cs typeface="Noto Sans SC"/>
                <a:sym typeface="Noto Sans SC"/>
              </a:rPr>
              <a:t>🧠 你的角色：</a:t>
            </a:r>
            <a:r>
              <a:rPr lang="en-US" b="false" i="false" strike="noStrike" u="none" sz="1200">
                <a:solidFill>
                  <a:srgbClr val="4B5563"/>
                </a:solidFill>
                <a:latin typeface="Noto Sans SC"/>
                <a:ea typeface="Noto Sans SC"/>
                <a:cs typeface="Noto Sans SC"/>
                <a:sym typeface="Noto Sans SC"/>
              </a:rPr>
              <a:t>确认起草内容的技术准确性；补充只有你掌握的实验细节与背景；调整语气以确保专业得体。</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508000"/>
            <a:ext cx="939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600">
                <a:solidFill>
                  <a:srgbClr val="111827"/>
                </a:solidFill>
                <a:latin typeface="微软雅黑"/>
                <a:ea typeface="微软雅黑"/>
                <a:cs typeface="微软雅黑"/>
                <a:sym typeface="微软雅黑"/>
              </a:rPr>
              <a:t>演示：如何用AI深度分析文献，精准定位研究空白</a:t>
            </a:r>
            <a:endParaRPr lang="en-US" sz="1100"/>
          </a:p>
        </p:txBody>
      </p:sp>
      <p:sp>
        <p:nvSpPr>
          <p:cNvPr name="AutoShape 3" id="3"/>
          <p:cNvSpPr/>
          <p:nvPr/>
        </p:nvSpPr>
        <p:spPr>
          <a:xfrm rot="0" flipH="false" flipV="false">
            <a:off x="508000" y="1143000"/>
            <a:ext cx="939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6B7280"/>
                </a:solidFill>
                <a:latin typeface="Noto Sans SC"/>
                <a:ea typeface="Noto Sans SC"/>
                <a:cs typeface="Noto Sans SC"/>
                <a:sym typeface="Noto Sans SC"/>
              </a:rPr>
              <a:t>（现场操作演示 · 工具：Google NotebookLM）</a:t>
            </a:r>
            <a:endParaRPr lang="en-US" sz="1100"/>
          </a:p>
        </p:txBody>
      </p:sp>
      <p:pic>
        <p:nvPicPr>
          <p:cNvPr name="Picture 4" id="4"/>
          <p:cNvPicPr>
            <a:picLocks noChangeAspect="true"/>
          </p:cNvPicPr>
          <p:nvPr/>
        </p:nvPicPr>
        <p:blipFill>
          <a:blip r:embed="rId2"/>
          <a:srcRect l="0" r="0" t="0" b="0"/>
          <a:stretch>
            <a:fillRect/>
          </a:stretch>
        </p:blipFill>
        <p:spPr>
          <a:xfrm rot="0" flipH="false" flipV="false">
            <a:off x="10033000" y="317500"/>
            <a:ext cx="825500" cy="825500"/>
          </a:xfrm>
          <a:prstGeom prst="rect">
            <a:avLst/>
          </a:prstGeom>
          <a:noFill/>
          <a:ln w="25400" cmpd="sng" cap="flat">
            <a:noFill/>
            <a:prstDash val="solid"/>
            <a:round/>
          </a:ln>
        </p:spPr>
      </p:pic>
      <p:pic>
        <p:nvPicPr>
          <p:cNvPr name="Picture 5" id="5"/>
          <p:cNvPicPr>
            <a:picLocks noChangeAspect="true"/>
          </p:cNvPicPr>
          <p:nvPr/>
        </p:nvPicPr>
        <p:blipFill>
          <a:blip r:embed="rId3"/>
          <a:srcRect l="775" r="775" t="0" b="0"/>
          <a:stretch>
            <a:fillRect/>
          </a:stretch>
        </p:blipFill>
        <p:spPr>
          <a:xfrm rot="0" flipH="false" flipV="false">
            <a:off x="11049000" y="317500"/>
            <a:ext cx="825500" cy="825500"/>
          </a:xfrm>
          <a:prstGeom prst="rect">
            <a:avLst/>
          </a:prstGeom>
          <a:noFill/>
          <a:ln w="25400" cmpd="sng" cap="flat">
            <a:noFill/>
            <a:prstDash val="solid"/>
            <a:round/>
          </a:ln>
        </p:spPr>
      </p:pic>
      <p:sp>
        <p:nvSpPr>
          <p:cNvPr name="AutoShape 6" id="6"/>
          <p:cNvSpPr/>
          <p:nvPr/>
        </p:nvSpPr>
        <p:spPr>
          <a:xfrm rot="0" flipH="false" flipV="false">
            <a:off x="508000" y="2032000"/>
            <a:ext cx="3556000" cy="2159000"/>
          </a:xfrm>
          <a:prstGeom prst="roundRect">
            <a:avLst>
              <a:gd name="adj" fmla="val 0"/>
            </a:avLst>
          </a:prstGeom>
          <a:solidFill>
            <a:srgbClr val="F3F4F6">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635000" y="2159000"/>
            <a:ext cx="33020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2563EB"/>
                </a:solidFill>
                <a:latin typeface="微软雅黑"/>
                <a:ea typeface="微软雅黑"/>
                <a:cs typeface="微软雅黑"/>
                <a:sym typeface="微软雅黑"/>
              </a:rPr>
              <a:t>01 准备文献库</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200">
                <a:solidFill>
                  <a:srgbClr val="374151"/>
                </a:solidFill>
                <a:latin typeface="Noto Sans SC"/>
                <a:ea typeface="Noto Sans SC"/>
                <a:cs typeface="Noto Sans SC"/>
                <a:sym typeface="Noto Sans SC"/>
              </a:rPr>
              <a:t>在</a:t>
            </a:r>
            <a:r>
              <a:rPr lang="en-US" b="true" i="false" strike="noStrike" u="none" sz="1200">
                <a:solidFill>
                  <a:srgbClr val="374151"/>
                </a:solidFill>
                <a:latin typeface="Noto Sans SC"/>
                <a:ea typeface="Noto Sans SC"/>
                <a:cs typeface="Noto Sans SC"/>
                <a:sym typeface="Noto Sans SC"/>
              </a:rPr>
              <a:t>NotebookLM</a:t>
            </a:r>
            <a:r>
              <a:rPr lang="en-US" b="false" i="false" strike="noStrike" u="none" sz="1200">
                <a:solidFill>
                  <a:srgbClr val="374151"/>
                </a:solidFill>
                <a:latin typeface="Noto Sans SC"/>
                <a:ea typeface="Noto Sans SC"/>
                <a:cs typeface="Noto Sans SC"/>
                <a:sym typeface="Noto Sans SC"/>
              </a:rPr>
              <a:t>(Google AI笔记工具) 中上传你所在研究领域的核心、最新论文（如8篇），建立专属文献库。</a:t>
            </a:r>
          </a:p>
        </p:txBody>
      </p:sp>
      <p:sp>
        <p:nvSpPr>
          <p:cNvPr name="AutoShape 8" id="8"/>
          <p:cNvSpPr/>
          <p:nvPr/>
        </p:nvSpPr>
        <p:spPr>
          <a:xfrm rot="0" flipH="false" flipV="false">
            <a:off x="4318000" y="2032000"/>
            <a:ext cx="3556000" cy="2159000"/>
          </a:xfrm>
          <a:prstGeom prst="roundRect">
            <a:avLst>
              <a:gd name="adj" fmla="val 0"/>
            </a:avLst>
          </a:prstGeom>
          <a:solidFill>
            <a:srgbClr val="F3F4F6">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4445000" y="2159000"/>
            <a:ext cx="33020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2563EB"/>
                </a:solidFill>
                <a:latin typeface="微软雅黑"/>
                <a:ea typeface="微软雅黑"/>
                <a:cs typeface="微软雅黑"/>
                <a:sym typeface="微软雅黑"/>
              </a:rPr>
              <a:t>02 提出核心问题</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200">
                <a:solidFill>
                  <a:srgbClr val="374151"/>
                </a:solidFill>
                <a:latin typeface="Noto Sans SC"/>
                <a:ea typeface="Noto Sans SC"/>
                <a:cs typeface="Noto Sans SC"/>
                <a:sym typeface="Noto Sans SC"/>
              </a:rPr>
              <a:t>向AI提问：</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374151"/>
                </a:solidFill>
                <a:latin typeface="Noto Sans SC"/>
                <a:ea typeface="Noto Sans SC"/>
                <a:cs typeface="Noto Sans SC"/>
                <a:sym typeface="Noto Sans SC"/>
              </a:rPr>
              <a:t>“请综合分析所有论文，总结它们共同关注的核心问题是什么？以及目前</a:t>
            </a:r>
            <a:r>
              <a:rPr lang="en-US" b="false" i="false" strike="noStrike" u="none" sz="1200">
                <a:solidFill>
                  <a:srgbClr val="DC2626"/>
                </a:solidFill>
                <a:latin typeface="Noto Sans SC"/>
                <a:ea typeface="Noto Sans SC"/>
                <a:cs typeface="Noto Sans SC"/>
                <a:sym typeface="Noto Sans SC"/>
              </a:rPr>
              <a:t>尚未解决或存在争议</a:t>
            </a:r>
            <a:r>
              <a:rPr lang="en-US" b="false" i="false" strike="noStrike" u="none" sz="1200">
                <a:solidFill>
                  <a:srgbClr val="374151"/>
                </a:solidFill>
                <a:latin typeface="Noto Sans SC"/>
                <a:ea typeface="Noto Sans SC"/>
                <a:cs typeface="Noto Sans SC"/>
                <a:sym typeface="Noto Sans SC"/>
              </a:rPr>
              <a:t>的问题有哪些？”</a:t>
            </a:r>
          </a:p>
        </p:txBody>
      </p:sp>
      <p:sp>
        <p:nvSpPr>
          <p:cNvPr name="AutoShape 10" id="10"/>
          <p:cNvSpPr/>
          <p:nvPr/>
        </p:nvSpPr>
        <p:spPr>
          <a:xfrm rot="0" flipH="false" flipV="false">
            <a:off x="8128000" y="2032000"/>
            <a:ext cx="3556000" cy="2159000"/>
          </a:xfrm>
          <a:prstGeom prst="roundRect">
            <a:avLst>
              <a:gd name="adj" fmla="val 0"/>
            </a:avLst>
          </a:prstGeom>
          <a:solidFill>
            <a:srgbClr val="F3F4F6">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8255000" y="2159000"/>
            <a:ext cx="33020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2563EB"/>
                </a:solidFill>
                <a:latin typeface="微软雅黑"/>
                <a:ea typeface="微软雅黑"/>
                <a:cs typeface="微软雅黑"/>
                <a:sym typeface="微软雅黑"/>
              </a:rPr>
              <a:t>03 AI生成结构化分析</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200">
                <a:solidFill>
                  <a:srgbClr val="374151"/>
                </a:solidFill>
                <a:latin typeface="Noto Sans SC"/>
                <a:ea typeface="Noto Sans SC"/>
                <a:cs typeface="Noto Sans SC"/>
                <a:sym typeface="Noto Sans SC"/>
              </a:rPr>
              <a:t>AI将快速阅读并理解所有文档，生成结构化总结，清晰区分出当前领域的研究</a:t>
            </a:r>
            <a:r>
              <a:rPr lang="en-US" b="true" i="false" strike="noStrike" u="none" sz="1200">
                <a:solidFill>
                  <a:srgbClr val="374151"/>
                </a:solidFill>
                <a:latin typeface="Noto Sans SC"/>
                <a:ea typeface="Noto Sans SC"/>
                <a:cs typeface="Noto Sans SC"/>
                <a:sym typeface="Noto Sans SC"/>
              </a:rPr>
              <a:t>热点与盲点（空白）</a:t>
            </a:r>
            <a:r>
              <a:rPr lang="en-US" b="false" i="false" strike="noStrike" u="none" sz="1200">
                <a:solidFill>
                  <a:srgbClr val="374151"/>
                </a:solidFill>
                <a:latin typeface="Noto Sans SC"/>
                <a:ea typeface="Noto Sans SC"/>
                <a:cs typeface="Noto Sans SC"/>
                <a:sym typeface="Noto Sans SC"/>
              </a:rPr>
              <a:t>，为你提供全局视角。</a:t>
            </a:r>
          </a:p>
        </p:txBody>
      </p:sp>
      <p:sp>
        <p:nvSpPr>
          <p:cNvPr name="AutoShape 12" id="12"/>
          <p:cNvSpPr/>
          <p:nvPr/>
        </p:nvSpPr>
        <p:spPr>
          <a:xfrm rot="0" flipH="false" flipV="false">
            <a:off x="2032000" y="4445000"/>
            <a:ext cx="3810000" cy="2032000"/>
          </a:xfrm>
          <a:prstGeom prst="roundRect">
            <a:avLst>
              <a:gd name="adj" fmla="val 0"/>
            </a:avLst>
          </a:prstGeom>
          <a:solidFill>
            <a:srgbClr val="EFF6FF">
              <a:alpha val="100000"/>
            </a:srgbClr>
          </a:solidFill>
          <a:ln w="12700" cmpd="sng" cap="flat">
            <a:solidFill>
              <a:srgbClr val="BFDBFE">
                <a:alpha val="10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2159000" y="4572000"/>
            <a:ext cx="3556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15803D"/>
                </a:solidFill>
                <a:latin typeface="微软雅黑"/>
                <a:ea typeface="微软雅黑"/>
                <a:cs typeface="微软雅黑"/>
                <a:sym typeface="微软雅黑"/>
              </a:rPr>
              <a:t>04 挖掘研究切入点</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200">
                <a:solidFill>
                  <a:srgbClr val="374151"/>
                </a:solidFill>
                <a:latin typeface="Noto Sans SC"/>
                <a:ea typeface="Noto Sans SC"/>
                <a:cs typeface="Noto Sans SC"/>
                <a:sym typeface="Noto Sans SC"/>
              </a:rPr>
              <a:t>追问：“基于这些未解决的问题，请推荐3个最具</a:t>
            </a:r>
            <a:r>
              <a:rPr lang="en-US" b="true" i="false" strike="noStrike" u="none" sz="1200">
                <a:solidFill>
                  <a:srgbClr val="374151"/>
                </a:solidFill>
                <a:latin typeface="Noto Sans SC"/>
                <a:ea typeface="Noto Sans SC"/>
                <a:cs typeface="Noto Sans SC"/>
                <a:sym typeface="Noto Sans SC"/>
              </a:rPr>
              <a:t>创新性与研究价值</a:t>
            </a:r>
            <a:r>
              <a:rPr lang="en-US" b="false" i="false" strike="noStrike" u="none" sz="1200">
                <a:solidFill>
                  <a:srgbClr val="374151"/>
                </a:solidFill>
                <a:latin typeface="Noto Sans SC"/>
                <a:ea typeface="Noto Sans SC"/>
                <a:cs typeface="Noto Sans SC"/>
                <a:sym typeface="Noto Sans SC"/>
              </a:rPr>
              <a:t>的切入点，并简要说明理由。”利用AI辅助发散思维。</a:t>
            </a:r>
          </a:p>
        </p:txBody>
      </p:sp>
      <p:sp>
        <p:nvSpPr>
          <p:cNvPr name="AutoShape 14" id="14"/>
          <p:cNvSpPr/>
          <p:nvPr/>
        </p:nvSpPr>
        <p:spPr>
          <a:xfrm rot="0" flipH="false" flipV="false">
            <a:off x="6350000" y="4445000"/>
            <a:ext cx="3810000" cy="2032000"/>
          </a:xfrm>
          <a:prstGeom prst="roundRect">
            <a:avLst>
              <a:gd name="adj" fmla="val 0"/>
            </a:avLst>
          </a:prstGeom>
          <a:solidFill>
            <a:srgbClr val="FFF7ED">
              <a:alpha val="100000"/>
            </a:srgbClr>
          </a:solidFill>
          <a:ln w="12700" cmpd="sng" cap="flat">
            <a:solidFill>
              <a:srgbClr val="FED7AA">
                <a:alpha val="10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477000" y="4572000"/>
            <a:ext cx="3556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D97706"/>
                </a:solidFill>
                <a:latin typeface="微软雅黑"/>
                <a:ea typeface="微软雅黑"/>
                <a:cs typeface="微软雅黑"/>
                <a:sym typeface="微软雅黑"/>
              </a:rPr>
              <a:t>05 追溯与验证</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200">
                <a:solidFill>
                  <a:srgbClr val="374151"/>
                </a:solidFill>
                <a:latin typeface="Noto Sans SC"/>
                <a:ea typeface="Noto Sans SC"/>
                <a:cs typeface="Noto Sans SC"/>
                <a:sym typeface="Noto Sans SC"/>
              </a:rPr>
              <a:t>对AI的回答进行交叉验证：点击回答中的引用标记，可直接跳转至原始论文的对应段落，核实观点来源，确保结论严谨。</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10160000" y="254000"/>
            <a:ext cx="635000" cy="635000"/>
          </a:xfrm>
          <a:prstGeom prst="rect">
            <a:avLst/>
          </a:prstGeom>
          <a:noFill/>
          <a:ln w="25400" cmpd="sng" cap="flat">
            <a:noFill/>
            <a:prstDash val="solid"/>
            <a:round/>
          </a:ln>
        </p:spPr>
      </p:pic>
      <p:pic>
        <p:nvPicPr>
          <p:cNvPr name="Picture 3" id="3"/>
          <p:cNvPicPr>
            <a:picLocks noChangeAspect="true"/>
          </p:cNvPicPr>
          <p:nvPr/>
        </p:nvPicPr>
        <p:blipFill>
          <a:blip r:embed="rId3"/>
          <a:srcRect l="775" r="775" t="0" b="0"/>
          <a:stretch>
            <a:fillRect/>
          </a:stretch>
        </p:blipFill>
        <p:spPr>
          <a:xfrm rot="0" flipH="false" flipV="false">
            <a:off x="11049000" y="254000"/>
            <a:ext cx="635000" cy="635000"/>
          </a:xfrm>
          <a:prstGeom prst="rect">
            <a:avLst/>
          </a:prstGeom>
          <a:noFill/>
          <a:ln w="25400" cmpd="sng" cap="flat">
            <a:noFill/>
            <a:prstDash val="solid"/>
            <a:round/>
          </a:ln>
        </p:spPr>
      </p:pic>
      <p:sp>
        <p:nvSpPr>
          <p:cNvPr name="AutoShape 4" id="4"/>
          <p:cNvSpPr/>
          <p:nvPr/>
        </p:nvSpPr>
        <p:spPr>
          <a:xfrm rot="0" flipH="false" flipV="false">
            <a:off x="508000" y="1016000"/>
            <a:ext cx="11176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200">
                <a:solidFill>
                  <a:srgbClr val="0E3874"/>
                </a:solidFill>
                <a:latin typeface="Noto Sans SC"/>
                <a:ea typeface="Noto Sans SC"/>
                <a:cs typeface="Noto Sans SC"/>
                <a:sym typeface="Noto Sans SC"/>
              </a:rPr>
              <a:t>激发创造力：AI作为你的“思想镜子”</a:t>
            </a:r>
            <a:endParaRPr lang="en-US" sz="1100"/>
          </a:p>
        </p:txBody>
      </p:sp>
      <p:sp>
        <p:nvSpPr>
          <p:cNvPr name="AutoShape 5" id="5"/>
          <p:cNvSpPr/>
          <p:nvPr/>
        </p:nvSpPr>
        <p:spPr>
          <a:xfrm rot="0" flipH="false" flipV="false">
            <a:off x="762000" y="1905000"/>
            <a:ext cx="10668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4B5563"/>
                </a:solidFill>
                <a:latin typeface="Noto Sans SC"/>
                <a:ea typeface="Noto Sans SC"/>
                <a:cs typeface="Noto Sans SC"/>
                <a:sym typeface="Noto Sans SC"/>
              </a:rPr>
              <a:t>对于顶层的创造性工作，AI无法替代你，但它可以成为一面极好的“镜子”，帮助你审视想法、激发灵感。</a:t>
            </a:r>
            <a:endParaRPr lang="en-US" sz="1100"/>
          </a:p>
        </p:txBody>
      </p:sp>
      <p:sp>
        <p:nvSpPr>
          <p:cNvPr name="AutoShape 6" id="6"/>
          <p:cNvSpPr/>
          <p:nvPr/>
        </p:nvSpPr>
        <p:spPr>
          <a:xfrm rot="0" flipH="false" flipV="false">
            <a:off x="635000" y="2794000"/>
            <a:ext cx="3429000" cy="3556000"/>
          </a:xfrm>
          <a:prstGeom prst="roundRect">
            <a:avLst>
              <a:gd name="adj" fmla="val 0"/>
            </a:avLst>
          </a:prstGeom>
          <a:solidFill>
            <a:srgbClr val="F3F6FB">
              <a:alpha val="100000"/>
            </a:srgbClr>
          </a:solidFill>
          <a:ln w="12700" cmpd="sng" cap="flat">
            <a:solidFill>
              <a:srgbClr val="DEE2E6">
                <a:alpha val="10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762000" y="2984500"/>
            <a:ext cx="3175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E3874"/>
                </a:solidFill>
                <a:latin typeface="Noto Sans SC"/>
                <a:ea typeface="Noto Sans SC"/>
                <a:cs typeface="Noto Sans SC"/>
                <a:sym typeface="Noto Sans SC"/>
              </a:rPr>
              <a:t>👀 苛刻的审稿人</a:t>
            </a:r>
            <a:endParaRPr lang="en-US" sz="1100"/>
          </a:p>
        </p:txBody>
      </p:sp>
      <p:sp>
        <p:nvSpPr>
          <p:cNvPr name="AutoShape 8" id="8"/>
          <p:cNvSpPr/>
          <p:nvPr/>
        </p:nvSpPr>
        <p:spPr>
          <a:xfrm rot="0" flipH="false" flipV="false">
            <a:off x="825500" y="3683000"/>
            <a:ext cx="3048000" cy="1397000"/>
          </a:xfrm>
          <a:prstGeom prst="roundRect">
            <a:avLst>
              <a:gd name="adj" fmla="val 0"/>
            </a:avLst>
          </a:prstGeom>
          <a:solidFill>
            <a:srgbClr val="FFFFFF">
              <a:alpha val="100000"/>
            </a:srgbClr>
          </a:solidFill>
          <a:ln w="12700" cmpd="sng" cap="flat">
            <a:solidFill>
              <a:srgbClr val="DBEAFE">
                <a:alpha val="10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952500" y="3810000"/>
            <a:ext cx="2794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100">
                <a:solidFill>
                  <a:srgbClr val="374151"/>
                </a:solidFill>
                <a:latin typeface="Noto Sans SC"/>
                <a:ea typeface="Noto Sans SC"/>
                <a:cs typeface="Noto Sans SC"/>
                <a:sym typeface="Noto Sans SC"/>
              </a:rPr>
              <a:t>Prompt示例：</a:t>
            </a:r>
            <a:r>
              <a:rPr lang="en-US" b="false" i="false" strike="noStrike" u="none" sz="1100">
                <a:solidFill>
                  <a:srgbClr val="6B7280"/>
                </a:solidFill>
                <a:latin typeface="Noto Sans SC"/>
                <a:ea typeface="Noto Sans SC"/>
                <a:cs typeface="Noto Sans SC"/>
                <a:sym typeface="Noto Sans SC"/>
              </a:rPr>
              <a:t>“我的核心假设是：[简要描述假设]。请扮演一位熟悉该领域的苛刻审稿人，从理论、设计和影响等方面，列出这个假设最脆弱、最容易被攻击的3个地方。”</a:t>
            </a:r>
            <a:endParaRPr lang="en-US" sz="1100"/>
          </a:p>
        </p:txBody>
      </p:sp>
      <p:sp>
        <p:nvSpPr>
          <p:cNvPr name="AutoShape 10" id="10"/>
          <p:cNvSpPr/>
          <p:nvPr/>
        </p:nvSpPr>
        <p:spPr>
          <a:xfrm rot="0" flipH="false" flipV="false">
            <a:off x="825500" y="5270500"/>
            <a:ext cx="3048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300">
                <a:solidFill>
                  <a:srgbClr val="CA8A04"/>
                </a:solidFill>
                <a:latin typeface="Noto Sans SC"/>
                <a:ea typeface="Noto Sans SC"/>
                <a:cs typeface="Noto Sans SC"/>
                <a:sym typeface="Noto Sans SC"/>
              </a:rPr>
              <a:t>💡 价值：</a:t>
            </a:r>
            <a:r>
              <a:rPr lang="en-US" b="false" i="false" strike="noStrike" u="none" sz="1200">
                <a:solidFill>
                  <a:srgbClr val="4B5563"/>
                </a:solidFill>
                <a:latin typeface="Noto Sans SC"/>
                <a:ea typeface="Noto Sans SC"/>
                <a:cs typeface="Noto Sans SC"/>
                <a:sym typeface="Noto Sans SC"/>
              </a:rPr>
              <a:t>提前进行压力测试，加固你的研究基础，规避潜在的逻辑漏洞。</a:t>
            </a:r>
            <a:endParaRPr lang="en-US" sz="1100"/>
          </a:p>
        </p:txBody>
      </p:sp>
      <p:sp>
        <p:nvSpPr>
          <p:cNvPr name="AutoShape 11" id="11"/>
          <p:cNvSpPr/>
          <p:nvPr/>
        </p:nvSpPr>
        <p:spPr>
          <a:xfrm rot="0" flipH="false" flipV="false">
            <a:off x="4381500" y="2794000"/>
            <a:ext cx="3429000" cy="3556000"/>
          </a:xfrm>
          <a:prstGeom prst="roundRect">
            <a:avLst>
              <a:gd name="adj" fmla="val 0"/>
            </a:avLst>
          </a:prstGeom>
          <a:solidFill>
            <a:srgbClr val="F3F6FB">
              <a:alpha val="100000"/>
            </a:srgbClr>
          </a:solidFill>
          <a:ln w="12700" cmpd="sng" cap="flat">
            <a:solidFill>
              <a:srgbClr val="DEE2E6">
                <a:alpha val="100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4508500" y="2984500"/>
            <a:ext cx="3175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E3874"/>
                </a:solidFill>
                <a:latin typeface="Noto Sans SC"/>
                <a:ea typeface="Noto Sans SC"/>
                <a:cs typeface="Noto Sans SC"/>
                <a:sym typeface="Noto Sans SC"/>
              </a:rPr>
              <a:t>🌐 跨领域的启发者</a:t>
            </a:r>
            <a:endParaRPr lang="en-US" sz="1100"/>
          </a:p>
        </p:txBody>
      </p:sp>
      <p:sp>
        <p:nvSpPr>
          <p:cNvPr name="AutoShape 13" id="13"/>
          <p:cNvSpPr/>
          <p:nvPr/>
        </p:nvSpPr>
        <p:spPr>
          <a:xfrm rot="0" flipH="false" flipV="false">
            <a:off x="4572000" y="3683000"/>
            <a:ext cx="3048000" cy="1397000"/>
          </a:xfrm>
          <a:prstGeom prst="roundRect">
            <a:avLst>
              <a:gd name="adj" fmla="val 0"/>
            </a:avLst>
          </a:prstGeom>
          <a:solidFill>
            <a:srgbClr val="FFFFFF">
              <a:alpha val="100000"/>
            </a:srgbClr>
          </a:solidFill>
          <a:ln w="12700" cmpd="sng" cap="flat">
            <a:solidFill>
              <a:srgbClr val="DBEAFE">
                <a:alpha val="100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4699000" y="3810000"/>
            <a:ext cx="2794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100">
                <a:solidFill>
                  <a:srgbClr val="374151"/>
                </a:solidFill>
                <a:latin typeface="Noto Sans SC"/>
                <a:ea typeface="Noto Sans SC"/>
                <a:cs typeface="Noto Sans SC"/>
                <a:sym typeface="Noto Sans SC"/>
              </a:rPr>
              <a:t>Prompt示例：</a:t>
            </a:r>
            <a:r>
              <a:rPr lang="en-US" b="false" i="false" strike="noStrike" u="none" sz="1100">
                <a:solidFill>
                  <a:srgbClr val="6B7280"/>
                </a:solidFill>
                <a:latin typeface="Noto Sans SC"/>
                <a:ea typeface="Noto Sans SC"/>
                <a:cs typeface="Noto Sans SC"/>
                <a:sym typeface="Noto Sans SC"/>
              </a:rPr>
              <a:t>“我正在研究[你的领域]中的[你的问题]。在[一个看似无关的领域]里，是否有类似的问题被解决过？他们使用了什么方法？我是否可以借鉴？”</a:t>
            </a:r>
            <a:endParaRPr lang="en-US" sz="1100"/>
          </a:p>
        </p:txBody>
      </p:sp>
      <p:sp>
        <p:nvSpPr>
          <p:cNvPr name="AutoShape 15" id="15"/>
          <p:cNvSpPr/>
          <p:nvPr/>
        </p:nvSpPr>
        <p:spPr>
          <a:xfrm rot="0" flipH="false" flipV="false">
            <a:off x="4572000" y="5270500"/>
            <a:ext cx="3048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300">
                <a:solidFill>
                  <a:srgbClr val="10B981"/>
                </a:solidFill>
                <a:latin typeface="Noto Sans SC"/>
                <a:ea typeface="Noto Sans SC"/>
                <a:cs typeface="Noto Sans SC"/>
                <a:sym typeface="Noto Sans SC"/>
              </a:rPr>
              <a:t>💡 价值：</a:t>
            </a:r>
            <a:r>
              <a:rPr lang="en-US" b="false" i="false" strike="noStrike" u="none" sz="1200">
                <a:solidFill>
                  <a:srgbClr val="4B5563"/>
                </a:solidFill>
                <a:latin typeface="Noto Sans SC"/>
                <a:ea typeface="Noto Sans SC"/>
                <a:cs typeface="Noto Sans SC"/>
                <a:sym typeface="Noto Sans SC"/>
              </a:rPr>
              <a:t>打破专业壁垒与思维定式，从其他学科汲取养分，寻找跨界创新的灵感火花。</a:t>
            </a:r>
            <a:endParaRPr lang="en-US" sz="1100"/>
          </a:p>
        </p:txBody>
      </p:sp>
      <p:sp>
        <p:nvSpPr>
          <p:cNvPr name="AutoShape 16" id="16"/>
          <p:cNvSpPr/>
          <p:nvPr/>
        </p:nvSpPr>
        <p:spPr>
          <a:xfrm rot="0" flipH="false" flipV="false">
            <a:off x="8128000" y="2794000"/>
            <a:ext cx="3429000" cy="3556000"/>
          </a:xfrm>
          <a:prstGeom prst="roundRect">
            <a:avLst>
              <a:gd name="adj" fmla="val 0"/>
            </a:avLst>
          </a:prstGeom>
          <a:solidFill>
            <a:srgbClr val="F3F6FB">
              <a:alpha val="100000"/>
            </a:srgbClr>
          </a:solidFill>
          <a:ln w="12700" cmpd="sng" cap="flat">
            <a:solidFill>
              <a:srgbClr val="DEE2E6">
                <a:alpha val="10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8255000" y="2984500"/>
            <a:ext cx="3175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E3874"/>
                </a:solidFill>
                <a:latin typeface="Noto Sans SC"/>
                <a:ea typeface="Noto Sans SC"/>
                <a:cs typeface="Noto Sans SC"/>
                <a:sym typeface="Noto Sans SC"/>
              </a:rPr>
              <a:t>⚔️ 辩论的对手</a:t>
            </a:r>
            <a:endParaRPr lang="en-US" sz="1100"/>
          </a:p>
        </p:txBody>
      </p:sp>
      <p:sp>
        <p:nvSpPr>
          <p:cNvPr name="AutoShape 18" id="18"/>
          <p:cNvSpPr/>
          <p:nvPr/>
        </p:nvSpPr>
        <p:spPr>
          <a:xfrm rot="0" flipH="false" flipV="false">
            <a:off x="8318500" y="3683000"/>
            <a:ext cx="3048000" cy="1397000"/>
          </a:xfrm>
          <a:prstGeom prst="roundRect">
            <a:avLst>
              <a:gd name="adj" fmla="val 0"/>
            </a:avLst>
          </a:prstGeom>
          <a:solidFill>
            <a:srgbClr val="FFFFFF">
              <a:alpha val="100000"/>
            </a:srgbClr>
          </a:solidFill>
          <a:ln w="12700" cmpd="sng" cap="flat">
            <a:solidFill>
              <a:srgbClr val="DBEAFE">
                <a:alpha val="100000"/>
              </a:srgbClr>
            </a:solid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8445500" y="3810000"/>
            <a:ext cx="2794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100">
                <a:solidFill>
                  <a:srgbClr val="374151"/>
                </a:solidFill>
                <a:latin typeface="Noto Sans SC"/>
                <a:ea typeface="Noto Sans SC"/>
                <a:cs typeface="Noto Sans SC"/>
                <a:sym typeface="Noto Sans SC"/>
              </a:rPr>
              <a:t>Prompt示例：</a:t>
            </a:r>
            <a:r>
              <a:rPr lang="en-US" b="false" i="false" strike="noStrike" u="none" sz="1100">
                <a:solidFill>
                  <a:srgbClr val="6B7280"/>
                </a:solidFill>
                <a:latin typeface="Noto Sans SC"/>
                <a:ea typeface="Noto Sans SC"/>
                <a:cs typeface="Noto Sans SC"/>
                <a:sym typeface="Noto Sans SC"/>
              </a:rPr>
              <a:t>“请扮演一个与我观点完全相反的辩论对手，针对我提出的论点，不保留地提出最强有力的反驳论据。”</a:t>
            </a:r>
            <a:endParaRPr lang="en-US" sz="1100"/>
          </a:p>
        </p:txBody>
      </p:sp>
      <p:sp>
        <p:nvSpPr>
          <p:cNvPr name="AutoShape 20" id="20"/>
          <p:cNvSpPr/>
          <p:nvPr/>
        </p:nvSpPr>
        <p:spPr>
          <a:xfrm rot="0" flipH="false" flipV="false">
            <a:off x="8318500" y="5270500"/>
            <a:ext cx="3048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300">
                <a:solidFill>
                  <a:srgbClr val="DC2626"/>
                </a:solidFill>
                <a:latin typeface="Noto Sans SC"/>
                <a:ea typeface="Noto Sans SC"/>
                <a:cs typeface="Noto Sans SC"/>
                <a:sym typeface="Noto Sans SC"/>
              </a:rPr>
              <a:t>💡 价值：</a:t>
            </a:r>
            <a:r>
              <a:rPr lang="en-US" b="false" i="false" strike="noStrike" u="none" sz="1200">
                <a:solidFill>
                  <a:srgbClr val="4B5563"/>
                </a:solidFill>
                <a:latin typeface="Noto Sans SC"/>
                <a:ea typeface="Noto Sans SC"/>
                <a:cs typeface="Noto Sans SC"/>
                <a:sym typeface="Noto Sans SC"/>
              </a:rPr>
              <a:t>强迫自己换位思考，补足思维盲区，使你的论证逻辑更加全面、严密且无懈可击。</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8FAFC">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381000"/>
            <a:ext cx="8636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D9488"/>
                </a:solidFill>
                <a:latin typeface="Noto Sans SC"/>
                <a:ea typeface="Noto Sans SC"/>
                <a:cs typeface="Noto Sans SC"/>
                <a:sym typeface="Noto Sans SC"/>
              </a:rPr>
              <a:t>构建你的 AI 赋能研究流水线</a:t>
            </a:r>
            <a:endParaRPr lang="en-US" sz="1100"/>
          </a:p>
        </p:txBody>
      </p:sp>
      <p:pic>
        <p:nvPicPr>
          <p:cNvPr name="Picture 3" id="3"/>
          <p:cNvPicPr>
            <a:picLocks noChangeAspect="true"/>
          </p:cNvPicPr>
          <p:nvPr/>
        </p:nvPicPr>
        <p:blipFill>
          <a:blip r:embed="rId2"/>
          <a:srcRect l="0" r="0" t="0" b="0"/>
          <a:stretch>
            <a:fillRect/>
          </a:stretch>
        </p:blipFill>
        <p:spPr>
          <a:xfrm rot="0" flipH="false" flipV="false">
            <a:off x="9525000" y="317500"/>
            <a:ext cx="889000" cy="889000"/>
          </a:xfrm>
          <a:prstGeom prst="rect">
            <a:avLst/>
          </a:prstGeom>
          <a:noFill/>
          <a:ln w="25400" cmpd="sng" cap="flat">
            <a:noFill/>
            <a:prstDash val="solid"/>
            <a:round/>
          </a:ln>
        </p:spPr>
      </p:pic>
      <p:pic>
        <p:nvPicPr>
          <p:cNvPr name="Picture 4" id="4"/>
          <p:cNvPicPr>
            <a:picLocks noChangeAspect="true"/>
          </p:cNvPicPr>
          <p:nvPr/>
        </p:nvPicPr>
        <p:blipFill>
          <a:blip r:embed="rId3"/>
          <a:srcRect l="775" r="775" t="0" b="0"/>
          <a:stretch>
            <a:fillRect/>
          </a:stretch>
        </p:blipFill>
        <p:spPr>
          <a:xfrm rot="0" flipH="false" flipV="false">
            <a:off x="10668000" y="317500"/>
            <a:ext cx="889000" cy="889000"/>
          </a:xfrm>
          <a:prstGeom prst="rect">
            <a:avLst/>
          </a:prstGeom>
          <a:noFill/>
          <a:ln w="25400" cmpd="sng" cap="flat">
            <a:noFill/>
            <a:prstDash val="solid"/>
            <a:round/>
          </a:ln>
        </p:spPr>
      </p:pic>
      <p:sp>
        <p:nvSpPr>
          <p:cNvPr name="AutoShape 5" id="5"/>
          <p:cNvSpPr/>
          <p:nvPr/>
        </p:nvSpPr>
        <p:spPr>
          <a:xfrm rot="0" flipH="false" flipV="false">
            <a:off x="508000" y="1651000"/>
            <a:ext cx="2667000" cy="3683000"/>
          </a:xfrm>
          <a:prstGeom prst="roundRect">
            <a:avLst>
              <a:gd name="adj" fmla="val 4761"/>
            </a:avLst>
          </a:prstGeom>
          <a:solidFill>
            <a:srgbClr val="FFFFFF">
              <a:alpha val="100000"/>
            </a:srgbClr>
          </a:solidFill>
          <a:ln w="25400" cmpd="sng" cap="flat">
            <a:solidFill>
              <a:srgbClr val="CCFBF1">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6" id="6"/>
          <p:cNvSpPr/>
          <p:nvPr/>
        </p:nvSpPr>
        <p:spPr>
          <a:xfrm rot="0" flipH="false" flipV="false">
            <a:off x="508000" y="1651000"/>
            <a:ext cx="2667000" cy="762000"/>
          </a:xfrm>
          <a:prstGeom prst="roundRect">
            <a:avLst>
              <a:gd name="adj" fmla="val 0"/>
            </a:avLst>
          </a:prstGeom>
          <a:solidFill>
            <a:srgbClr val="14B8A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635000" y="1778000"/>
            <a:ext cx="2413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FFFFFF"/>
                </a:solidFill>
                <a:latin typeface="Noto Sans SC"/>
                <a:ea typeface="Noto Sans SC"/>
                <a:cs typeface="Noto Sans SC"/>
                <a:sym typeface="Noto Sans SC"/>
              </a:rPr>
              <a:t>01 选题阶段</a:t>
            </a:r>
            <a:endParaRPr lang="en-US" sz="1100"/>
          </a:p>
        </p:txBody>
      </p:sp>
      <p:sp>
        <p:nvSpPr>
          <p:cNvPr name="AutoShape 8" id="8"/>
          <p:cNvSpPr/>
          <p:nvPr/>
        </p:nvSpPr>
        <p:spPr>
          <a:xfrm rot="0" flipH="false" flipV="false">
            <a:off x="635000" y="2667000"/>
            <a:ext cx="2413000" cy="2413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400">
                <a:solidFill>
                  <a:srgbClr val="374151"/>
                </a:solidFill>
                <a:latin typeface="Noto Sans SC"/>
                <a:ea typeface="Noto Sans SC"/>
                <a:cs typeface="Noto Sans SC"/>
                <a:sym typeface="Noto Sans SC"/>
              </a:rPr>
              <a:t>📚 广泛探索</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6B7280"/>
                </a:solidFill>
                <a:latin typeface="Noto Sans SC"/>
                <a:ea typeface="Noto Sans SC"/>
                <a:cs typeface="Noto Sans SC"/>
                <a:sym typeface="Noto Sans SC"/>
              </a:rPr>
              <a:t>工具：Elicit, Semantic Scholar</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true" i="false" strike="noStrike" u="none" sz="1400">
                <a:solidFill>
                  <a:srgbClr val="374151"/>
                </a:solidFill>
                <a:latin typeface="Noto Sans SC"/>
                <a:ea typeface="Noto Sans SC"/>
                <a:cs typeface="Noto Sans SC"/>
                <a:sym typeface="Noto Sans SC"/>
              </a:rPr>
              <a:t>🔍 深度分析</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6B7280"/>
                </a:solidFill>
                <a:latin typeface="Noto Sans SC"/>
                <a:ea typeface="Noto Sans SC"/>
                <a:cs typeface="Noto Sans SC"/>
                <a:sym typeface="Noto Sans SC"/>
              </a:rPr>
              <a:t>工具：NotebookLM 问答对话</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ts val="800"/>
              </a:spcBef>
            </a:pPr>
            <a:r>
              <a:rPr lang="en-US" b="true" i="false" strike="noStrike" u="none" sz="1400">
                <a:solidFill>
                  <a:srgbClr val="D97706"/>
                </a:solidFill>
                <a:latin typeface="Noto Sans SC"/>
                <a:ea typeface="Noto Sans SC"/>
                <a:cs typeface="Noto Sans SC"/>
                <a:sym typeface="Noto Sans SC"/>
              </a:rPr>
              <a:t>🧠 关键决策</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4B5563"/>
                </a:solidFill>
                <a:latin typeface="Noto Sans SC"/>
                <a:ea typeface="Noto Sans SC"/>
                <a:cs typeface="Noto Sans SC"/>
                <a:sym typeface="Noto Sans SC"/>
              </a:rPr>
              <a:t>由你：判断与凝练最终研究方向</a:t>
            </a:r>
          </a:p>
        </p:txBody>
      </p:sp>
      <p:sp>
        <p:nvSpPr>
          <p:cNvPr name="AutoShape 9" id="9"/>
          <p:cNvSpPr/>
          <p:nvPr/>
        </p:nvSpPr>
        <p:spPr>
          <a:xfrm rot="0" flipH="false" flipV="false">
            <a:off x="3429000" y="1651000"/>
            <a:ext cx="2667000" cy="3683000"/>
          </a:xfrm>
          <a:prstGeom prst="roundRect">
            <a:avLst>
              <a:gd name="adj" fmla="val 4761"/>
            </a:avLst>
          </a:prstGeom>
          <a:solidFill>
            <a:srgbClr val="FFFFFF">
              <a:alpha val="100000"/>
            </a:srgbClr>
          </a:solidFill>
          <a:ln w="25400" cmpd="sng" cap="flat">
            <a:solidFill>
              <a:srgbClr val="DBEAFE">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3429000" y="1651000"/>
            <a:ext cx="2667000" cy="762000"/>
          </a:xfrm>
          <a:prstGeom prst="roundRect">
            <a:avLst>
              <a:gd name="adj" fmla="val 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3556000" y="1778000"/>
            <a:ext cx="2413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FFFFFF"/>
                </a:solidFill>
                <a:latin typeface="Noto Sans SC"/>
                <a:ea typeface="Noto Sans SC"/>
                <a:cs typeface="Noto Sans SC"/>
                <a:sym typeface="Noto Sans SC"/>
              </a:rPr>
              <a:t>02 调研阶段</a:t>
            </a:r>
            <a:endParaRPr lang="en-US" sz="1100"/>
          </a:p>
        </p:txBody>
      </p:sp>
      <p:sp>
        <p:nvSpPr>
          <p:cNvPr name="AutoShape 12" id="12"/>
          <p:cNvSpPr/>
          <p:nvPr/>
        </p:nvSpPr>
        <p:spPr>
          <a:xfrm rot="0" flipH="false" flipV="false">
            <a:off x="3556000" y="2667000"/>
            <a:ext cx="2413000" cy="2413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400">
                <a:solidFill>
                  <a:srgbClr val="374151"/>
                </a:solidFill>
                <a:latin typeface="Noto Sans SC"/>
                <a:ea typeface="Noto Sans SC"/>
                <a:cs typeface="Noto Sans SC"/>
                <a:sym typeface="Noto Sans SC"/>
              </a:rPr>
              <a:t>📖 文献精读</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6B7280"/>
                </a:solidFill>
                <a:latin typeface="Noto Sans SC"/>
                <a:ea typeface="Noto Sans SC"/>
                <a:cs typeface="Noto Sans SC"/>
                <a:sym typeface="Noto Sans SC"/>
              </a:rPr>
              <a:t>工具：NotebookLM 深度总结</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true" i="false" strike="noStrike" u="none" sz="1400">
                <a:solidFill>
                  <a:srgbClr val="374151"/>
                </a:solidFill>
                <a:latin typeface="Noto Sans SC"/>
                <a:ea typeface="Noto Sans SC"/>
                <a:cs typeface="Noto Sans SC"/>
                <a:sym typeface="Noto Sans SC"/>
              </a:rPr>
              <a:t>🏗️ 综述框架</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6B7280"/>
                </a:solidFill>
                <a:latin typeface="Noto Sans SC"/>
                <a:ea typeface="Noto Sans SC"/>
                <a:cs typeface="Noto Sans SC"/>
                <a:sym typeface="Noto Sans SC"/>
              </a:rPr>
              <a:t>工具：Claude 生成大纲草稿</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ts val="800"/>
              </a:spcBef>
            </a:pPr>
            <a:r>
              <a:rPr lang="en-US" b="true" i="false" strike="noStrike" u="none" sz="1400">
                <a:solidFill>
                  <a:srgbClr val="D97706"/>
                </a:solidFill>
                <a:latin typeface="Noto Sans SC"/>
                <a:ea typeface="Noto Sans SC"/>
                <a:cs typeface="Noto Sans SC"/>
                <a:sym typeface="Noto Sans SC"/>
              </a:rPr>
              <a:t>⚙️ 整合优化</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4B5563"/>
                </a:solidFill>
                <a:latin typeface="Noto Sans SC"/>
                <a:ea typeface="Noto Sans SC"/>
                <a:cs typeface="Noto Sans SC"/>
                <a:sym typeface="Noto Sans SC"/>
              </a:rPr>
              <a:t>由你：提炼核心观点与逻辑链条</a:t>
            </a:r>
          </a:p>
        </p:txBody>
      </p:sp>
      <p:sp>
        <p:nvSpPr>
          <p:cNvPr name="AutoShape 13" id="13"/>
          <p:cNvSpPr/>
          <p:nvPr/>
        </p:nvSpPr>
        <p:spPr>
          <a:xfrm rot="0" flipH="false" flipV="false">
            <a:off x="6350000" y="1651000"/>
            <a:ext cx="2667000" cy="3683000"/>
          </a:xfrm>
          <a:prstGeom prst="roundRect">
            <a:avLst>
              <a:gd name="adj" fmla="val 4761"/>
            </a:avLst>
          </a:prstGeom>
          <a:solidFill>
            <a:srgbClr val="FFFFFF">
              <a:alpha val="100000"/>
            </a:srgbClr>
          </a:solidFill>
          <a:ln w="25400" cmpd="sng" cap="flat">
            <a:solidFill>
              <a:srgbClr val="FEF3C7">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350000" y="1651000"/>
            <a:ext cx="2667000" cy="762000"/>
          </a:xfrm>
          <a:prstGeom prst="roundRect">
            <a:avLst>
              <a:gd name="adj" fmla="val 0"/>
            </a:avLst>
          </a:prstGeom>
          <a:solidFill>
            <a:srgbClr val="F59E0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477000" y="1778000"/>
            <a:ext cx="2413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FFFFFF"/>
                </a:solidFill>
                <a:latin typeface="Noto Sans SC"/>
                <a:ea typeface="Noto Sans SC"/>
                <a:cs typeface="Noto Sans SC"/>
                <a:sym typeface="Noto Sans SC"/>
              </a:rPr>
              <a:t>03 写作阶段</a:t>
            </a:r>
            <a:endParaRPr lang="en-US" sz="1100"/>
          </a:p>
        </p:txBody>
      </p:sp>
      <p:sp>
        <p:nvSpPr>
          <p:cNvPr name="AutoShape 16" id="16"/>
          <p:cNvSpPr/>
          <p:nvPr/>
        </p:nvSpPr>
        <p:spPr>
          <a:xfrm rot="0" flipH="false" flipV="false">
            <a:off x="6477000" y="2667000"/>
            <a:ext cx="2413000" cy="2413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400">
                <a:solidFill>
                  <a:srgbClr val="374151"/>
                </a:solidFill>
                <a:latin typeface="Noto Sans SC"/>
                <a:ea typeface="Noto Sans SC"/>
                <a:cs typeface="Noto Sans SC"/>
                <a:sym typeface="Noto Sans SC"/>
              </a:rPr>
              <a:t>✍️ 初稿起草</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6B7280"/>
                </a:solidFill>
                <a:latin typeface="Noto Sans SC"/>
                <a:ea typeface="Noto Sans SC"/>
                <a:cs typeface="Noto Sans SC"/>
                <a:sym typeface="Noto Sans SC"/>
              </a:rPr>
              <a:t>工具：Claude 辅助生成章节内容</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true" i="false" strike="noStrike" u="none" sz="1400">
                <a:solidFill>
                  <a:srgbClr val="374151"/>
                </a:solidFill>
                <a:latin typeface="Noto Sans SC"/>
                <a:ea typeface="Noto Sans SC"/>
                <a:cs typeface="Noto Sans SC"/>
                <a:sym typeface="Noto Sans SC"/>
              </a:rPr>
              <a:t>✨ 语言润色</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6B7280"/>
                </a:solidFill>
                <a:latin typeface="Noto Sans SC"/>
                <a:ea typeface="Noto Sans SC"/>
                <a:cs typeface="Noto Sans SC"/>
                <a:sym typeface="Noto Sans SC"/>
              </a:rPr>
              <a:t>工具：Grammarly / Claude 校对</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ts val="800"/>
              </a:spcBef>
            </a:pPr>
            <a:r>
              <a:rPr lang="en-US" b="true" i="false" strike="noStrike" u="none" sz="1400">
                <a:solidFill>
                  <a:srgbClr val="D97706"/>
                </a:solidFill>
                <a:latin typeface="Noto Sans SC"/>
                <a:ea typeface="Noto Sans SC"/>
                <a:cs typeface="Noto Sans SC"/>
                <a:sym typeface="Noto Sans SC"/>
              </a:rPr>
              <a:t>💡 深化内容</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4B5563"/>
                </a:solidFill>
                <a:latin typeface="Noto Sans SC"/>
                <a:ea typeface="Noto Sans SC"/>
                <a:cs typeface="Noto Sans SC"/>
                <a:sym typeface="Noto Sans SC"/>
              </a:rPr>
              <a:t>由你：主导内容修改与深度思考</a:t>
            </a:r>
          </a:p>
        </p:txBody>
      </p:sp>
      <p:sp>
        <p:nvSpPr>
          <p:cNvPr name="AutoShape 17" id="17"/>
          <p:cNvSpPr/>
          <p:nvPr/>
        </p:nvSpPr>
        <p:spPr>
          <a:xfrm rot="0" flipH="false" flipV="false">
            <a:off x="9271000" y="1651000"/>
            <a:ext cx="2667000" cy="3683000"/>
          </a:xfrm>
          <a:prstGeom prst="roundRect">
            <a:avLst>
              <a:gd name="adj" fmla="val 4761"/>
            </a:avLst>
          </a:prstGeom>
          <a:solidFill>
            <a:srgbClr val="FFFFFF">
              <a:alpha val="100000"/>
            </a:srgbClr>
          </a:solidFill>
          <a:ln w="25400" cmpd="sng" cap="flat">
            <a:solidFill>
              <a:srgbClr val="FBCFE8">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9271000" y="1651000"/>
            <a:ext cx="2667000" cy="762000"/>
          </a:xfrm>
          <a:prstGeom prst="roundRect">
            <a:avLst>
              <a:gd name="adj" fmla="val 0"/>
            </a:avLst>
          </a:prstGeom>
          <a:solidFill>
            <a:srgbClr val="EC48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9398000" y="1778000"/>
            <a:ext cx="2413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FFFFFF"/>
                </a:solidFill>
                <a:latin typeface="Noto Sans SC"/>
                <a:ea typeface="Noto Sans SC"/>
                <a:cs typeface="Noto Sans SC"/>
                <a:sym typeface="Noto Sans SC"/>
              </a:rPr>
              <a:t>04 投稿与修改</a:t>
            </a:r>
            <a:endParaRPr lang="en-US" sz="1100"/>
          </a:p>
        </p:txBody>
      </p:sp>
      <p:sp>
        <p:nvSpPr>
          <p:cNvPr name="AutoShape 20" id="20"/>
          <p:cNvSpPr/>
          <p:nvPr/>
        </p:nvSpPr>
        <p:spPr>
          <a:xfrm rot="0" flipH="false" flipV="false">
            <a:off x="9398000" y="2667000"/>
            <a:ext cx="2413000" cy="2413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400">
                <a:solidFill>
                  <a:srgbClr val="374151"/>
                </a:solidFill>
                <a:latin typeface="Noto Sans SC"/>
                <a:ea typeface="Noto Sans SC"/>
                <a:cs typeface="Noto Sans SC"/>
                <a:sym typeface="Noto Sans SC"/>
              </a:rPr>
              <a:t>🔄 模拟审稿</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6B7280"/>
                </a:solidFill>
                <a:latin typeface="Noto Sans SC"/>
                <a:ea typeface="Noto Sans SC"/>
                <a:cs typeface="Noto Sans SC"/>
                <a:sym typeface="Noto Sans SC"/>
              </a:rPr>
              <a:t>工具：GPT 模拟审稿人提问</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true" i="false" strike="noStrike" u="none" sz="1400">
                <a:solidFill>
                  <a:srgbClr val="374151"/>
                </a:solidFill>
                <a:latin typeface="Noto Sans SC"/>
                <a:ea typeface="Noto Sans SC"/>
                <a:cs typeface="Noto Sans SC"/>
                <a:sym typeface="Noto Sans SC"/>
              </a:rPr>
              <a:t>📝 回复信起草</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6B7280"/>
                </a:solidFill>
                <a:latin typeface="Noto Sans SC"/>
                <a:ea typeface="Noto Sans SC"/>
                <a:cs typeface="Noto Sans SC"/>
                <a:sym typeface="Noto Sans SC"/>
              </a:rPr>
              <a:t>工具：Claude 辅助撰写回复信</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ts val="800"/>
              </a:spcBef>
            </a:pPr>
            <a:r>
              <a:rPr lang="en-US" b="true" i="false" strike="noStrike" u="none" sz="1400">
                <a:solidFill>
                  <a:srgbClr val="D97706"/>
                </a:solidFill>
                <a:latin typeface="Noto Sans SC"/>
                <a:ea typeface="Noto Sans SC"/>
                <a:cs typeface="Noto Sans SC"/>
                <a:sym typeface="Noto Sans SC"/>
              </a:rPr>
              <a:t>✅ 最终把关</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4B5563"/>
                </a:solidFill>
                <a:latin typeface="Noto Sans SC"/>
                <a:ea typeface="Noto Sans SC"/>
                <a:cs typeface="Noto Sans SC"/>
                <a:sym typeface="Noto Sans SC"/>
              </a:rPr>
              <a:t>由你：确认准确性并提交稿件</a:t>
            </a:r>
          </a:p>
        </p:txBody>
      </p:sp>
      <p:sp>
        <p:nvSpPr>
          <p:cNvPr name="AutoShape 21" id="21"/>
          <p:cNvSpPr/>
          <p:nvPr/>
        </p:nvSpPr>
        <p:spPr>
          <a:xfrm rot="0" flipH="false" flipV="false">
            <a:off x="508000" y="5588000"/>
            <a:ext cx="11176000" cy="1016000"/>
          </a:xfrm>
          <a:prstGeom prst="roundRect">
            <a:avLst>
              <a:gd name="adj" fmla="val 15000"/>
            </a:avLst>
          </a:prstGeom>
          <a:solidFill>
            <a:srgbClr val="1E293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762000" y="5778500"/>
            <a:ext cx="10668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1600">
                <a:solidFill>
                  <a:srgbClr val="FFFFFF"/>
                </a:solidFill>
                <a:latin typeface="Noto Sans SC"/>
                <a:ea typeface="Noto Sans SC"/>
                <a:cs typeface="Noto Sans SC"/>
                <a:sym typeface="Noto Sans SC"/>
              </a:rPr>
              <a:t>💡 核心逻辑：人机协同 · 各司其职</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CBD5E1"/>
                </a:solidFill>
                <a:latin typeface="Noto Sans SC"/>
                <a:ea typeface="Noto Sans SC"/>
                <a:cs typeface="Noto Sans SC"/>
                <a:sym typeface="Noto Sans SC"/>
              </a:rPr>
              <a:t>AI 负责处理信息、执行规则、生成初稿；你专注于设定目标、判断决策、深化思考与保证创新性。</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10033000" y="254000"/>
            <a:ext cx="609600" cy="609600"/>
          </a:xfrm>
          <a:prstGeom prst="rect">
            <a:avLst/>
          </a:prstGeom>
          <a:noFill/>
          <a:ln w="25400" cmpd="sng" cap="flat">
            <a:noFill/>
            <a:prstDash val="solid"/>
            <a:round/>
          </a:ln>
        </p:spPr>
      </p:pic>
      <p:pic>
        <p:nvPicPr>
          <p:cNvPr name="Picture 3" id="3"/>
          <p:cNvPicPr>
            <a:picLocks noChangeAspect="true"/>
          </p:cNvPicPr>
          <p:nvPr/>
        </p:nvPicPr>
        <p:blipFill>
          <a:blip r:embed="rId3"/>
          <a:srcRect l="775" r="775" t="0" b="0"/>
          <a:stretch>
            <a:fillRect/>
          </a:stretch>
        </p:blipFill>
        <p:spPr>
          <a:xfrm rot="0" flipH="false" flipV="false">
            <a:off x="10947400" y="254000"/>
            <a:ext cx="609600" cy="609600"/>
          </a:xfrm>
          <a:prstGeom prst="rect">
            <a:avLst/>
          </a:prstGeom>
          <a:noFill/>
          <a:ln w="25400" cmpd="sng" cap="flat">
            <a:noFill/>
            <a:prstDash val="solid"/>
            <a:round/>
          </a:ln>
        </p:spPr>
      </p:pic>
      <p:sp>
        <p:nvSpPr>
          <p:cNvPr name="AutoShape 4" id="4"/>
          <p:cNvSpPr/>
          <p:nvPr/>
        </p:nvSpPr>
        <p:spPr>
          <a:xfrm rot="0" flipH="false" flipV="false">
            <a:off x="508000" y="381000"/>
            <a:ext cx="889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00000"/>
                </a:solidFill>
                <a:latin typeface="微软雅黑"/>
                <a:ea typeface="微软雅黑"/>
                <a:cs typeface="微软雅黑"/>
                <a:sym typeface="微软雅黑"/>
              </a:rPr>
              <a:t>建立你的个人标准作业流程 (SOP)</a:t>
            </a:r>
            <a:endParaRPr lang="en-US" sz="1100"/>
          </a:p>
        </p:txBody>
      </p:sp>
      <p:sp>
        <p:nvSpPr>
          <p:cNvPr name="AutoShape 5" id="5"/>
          <p:cNvSpPr/>
          <p:nvPr/>
        </p:nvSpPr>
        <p:spPr>
          <a:xfrm rot="0" flipH="false" flipV="false">
            <a:off x="508000" y="1270000"/>
            <a:ext cx="11176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505050"/>
                </a:solidFill>
                <a:latin typeface="Noto Sans SC"/>
                <a:ea typeface="Noto Sans SC"/>
                <a:cs typeface="Noto Sans SC"/>
                <a:sym typeface="Noto Sans SC"/>
              </a:rPr>
              <a:t>为了让AI赋能成为一种可持续的工作方式，而不是一时的新鲜感，你需要建立自己的研究者SOP（Standard Operating Procedure）。建立SOP的过程，就是将隐性知识显性化、将高效实践固化的过程。</a:t>
            </a:r>
            <a:endParaRPr lang="en-US" sz="1100"/>
          </a:p>
        </p:txBody>
      </p:sp>
      <p:sp>
        <p:nvSpPr>
          <p:cNvPr name="AutoShape 6" id="6"/>
          <p:cNvSpPr/>
          <p:nvPr/>
        </p:nvSpPr>
        <p:spPr>
          <a:xfrm rot="0" flipH="false" flipV="false">
            <a:off x="508000" y="2159000"/>
            <a:ext cx="5461000" cy="1333500"/>
          </a:xfrm>
          <a:prstGeom prst="roundRect">
            <a:avLst>
              <a:gd name="adj" fmla="val 9523"/>
            </a:avLst>
          </a:prstGeom>
          <a:solidFill>
            <a:srgbClr val="F0F5FF">
              <a:alpha val="100000"/>
            </a:srgbClr>
          </a:solidFill>
          <a:ln w="12700" cmpd="sng" cap="flat">
            <a:solidFill>
              <a:srgbClr val="DBEAFE">
                <a:alpha val="10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698500" y="2286000"/>
            <a:ext cx="5080000" cy="1079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174EA6"/>
                </a:solidFill>
                <a:latin typeface="微软雅黑"/>
                <a:ea typeface="微软雅黑"/>
                <a:cs typeface="微软雅黑"/>
                <a:sym typeface="微软雅黑"/>
              </a:rPr>
              <a:t>▌ 流程定义</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600"/>
              </a:spcBef>
            </a:pPr>
            <a:r>
              <a:rPr lang="en-US" b="false" i="false" strike="noStrike" u="none" sz="1200">
                <a:solidFill>
                  <a:srgbClr val="374151"/>
                </a:solidFill>
                <a:latin typeface="Noto Sans SC"/>
                <a:ea typeface="Noto Sans SC"/>
                <a:cs typeface="Noto Sans SC"/>
                <a:sym typeface="Noto Sans SC"/>
              </a:rPr>
              <a:t>清晰列出从选题、文献调研、实验设计、论文撰写到投稿的每一个关键阶段，确保研究路径不偏离。</a:t>
            </a:r>
          </a:p>
        </p:txBody>
      </p:sp>
      <p:sp>
        <p:nvSpPr>
          <p:cNvPr name="AutoShape 8" id="8"/>
          <p:cNvSpPr/>
          <p:nvPr/>
        </p:nvSpPr>
        <p:spPr>
          <a:xfrm rot="0" flipH="false" flipV="false">
            <a:off x="508000" y="3683000"/>
            <a:ext cx="5461000" cy="1333500"/>
          </a:xfrm>
          <a:prstGeom prst="roundRect">
            <a:avLst>
              <a:gd name="adj" fmla="val 9523"/>
            </a:avLst>
          </a:prstGeom>
          <a:solidFill>
            <a:srgbClr val="F0F5FF">
              <a:alpha val="100000"/>
            </a:srgbClr>
          </a:solidFill>
          <a:ln w="12700" cmpd="sng" cap="flat">
            <a:solidFill>
              <a:srgbClr val="DBEAFE">
                <a:alpha val="10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98500" y="3810000"/>
            <a:ext cx="5080000" cy="1079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174EA6"/>
                </a:solidFill>
                <a:latin typeface="微软雅黑"/>
                <a:ea typeface="微软雅黑"/>
                <a:cs typeface="微软雅黑"/>
                <a:sym typeface="微软雅黑"/>
              </a:rPr>
              <a:t>▌ 工具清单</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600"/>
              </a:spcBef>
            </a:pPr>
            <a:r>
              <a:rPr lang="en-US" b="false" i="false" strike="noStrike" u="none" sz="1200">
                <a:solidFill>
                  <a:srgbClr val="374151"/>
                </a:solidFill>
                <a:latin typeface="Noto Sans SC"/>
                <a:ea typeface="Noto Sans SC"/>
                <a:cs typeface="Noto Sans SC"/>
                <a:sym typeface="Noto Sans SC"/>
              </a:rPr>
              <a:t>明确每个阶段习惯使用的工具，例如文献管理用Zotero，数据分析用Python/R，语法润色用Grammarly等，减少切换成本。</a:t>
            </a:r>
          </a:p>
        </p:txBody>
      </p:sp>
      <p:sp>
        <p:nvSpPr>
          <p:cNvPr name="AutoShape 10" id="10"/>
          <p:cNvSpPr/>
          <p:nvPr/>
        </p:nvSpPr>
        <p:spPr>
          <a:xfrm rot="0" flipH="false" flipV="false">
            <a:off x="508000" y="5207000"/>
            <a:ext cx="5461000" cy="1333500"/>
          </a:xfrm>
          <a:prstGeom prst="roundRect">
            <a:avLst>
              <a:gd name="adj" fmla="val 9523"/>
            </a:avLst>
          </a:prstGeom>
          <a:solidFill>
            <a:srgbClr val="F0F5FF">
              <a:alpha val="100000"/>
            </a:srgbClr>
          </a:solidFill>
          <a:ln w="12700" cmpd="sng" cap="flat">
            <a:solidFill>
              <a:srgbClr val="DBEAFE">
                <a:alpha val="10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98500" y="5334000"/>
            <a:ext cx="5080000" cy="1079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174EA6"/>
                </a:solidFill>
                <a:latin typeface="微软雅黑"/>
                <a:ea typeface="微软雅黑"/>
                <a:cs typeface="微软雅黑"/>
                <a:sym typeface="微软雅黑"/>
              </a:rPr>
              <a:t>▌ Prompt 指令库</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600"/>
              </a:spcBef>
            </a:pPr>
            <a:r>
              <a:rPr lang="en-US" b="false" i="false" strike="noStrike" u="none" sz="1200">
                <a:solidFill>
                  <a:srgbClr val="374151"/>
                </a:solidFill>
                <a:latin typeface="Noto Sans SC"/>
                <a:ea typeface="Noto Sans SC"/>
                <a:cs typeface="Noto Sans SC"/>
                <a:sym typeface="Noto Sans SC"/>
              </a:rPr>
              <a:t>整理并保存实践中验证有效的各种AI指令（Prompt），如“文献综述框架生成”、“摘要润色”等，形成专属的“效率手册”。</a:t>
            </a:r>
          </a:p>
        </p:txBody>
      </p:sp>
      <p:sp>
        <p:nvSpPr>
          <p:cNvPr name="AutoShape 12" id="12"/>
          <p:cNvSpPr/>
          <p:nvPr/>
        </p:nvSpPr>
        <p:spPr>
          <a:xfrm rot="0" flipH="false" flipV="false">
            <a:off x="6223000" y="2159000"/>
            <a:ext cx="5461000" cy="1333500"/>
          </a:xfrm>
          <a:prstGeom prst="roundRect">
            <a:avLst>
              <a:gd name="adj" fmla="val 9523"/>
            </a:avLst>
          </a:prstGeom>
          <a:solidFill>
            <a:srgbClr val="F0FDF4">
              <a:alpha val="100000"/>
            </a:srgbClr>
          </a:solidFill>
          <a:ln w="12700" cmpd="sng" cap="flat">
            <a:solidFill>
              <a:srgbClr val="DCFCE7">
                <a:alpha val="10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6413500" y="2286000"/>
            <a:ext cx="5080000" cy="1079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15803D"/>
                </a:solidFill>
                <a:latin typeface="微软雅黑"/>
                <a:ea typeface="微软雅黑"/>
                <a:cs typeface="微软雅黑"/>
                <a:sym typeface="微软雅黑"/>
              </a:rPr>
              <a:t>▌ 产出标准</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600"/>
              </a:spcBef>
            </a:pPr>
            <a:r>
              <a:rPr lang="en-US" b="false" i="false" strike="noStrike" u="none" sz="1200">
                <a:solidFill>
                  <a:srgbClr val="374151"/>
                </a:solidFill>
                <a:latin typeface="Noto Sans SC"/>
                <a:ea typeface="Noto Sans SC"/>
                <a:cs typeface="Noto Sans SC"/>
                <a:sym typeface="Noto Sans SC"/>
              </a:rPr>
              <a:t>清晰定义每个步骤的产出物规范。例如“实验记录需包含完整的参数设置、原始数据截图及初步结论”，保证输出质量。</a:t>
            </a:r>
          </a:p>
        </p:txBody>
      </p:sp>
      <p:sp>
        <p:nvSpPr>
          <p:cNvPr name="AutoShape 14" id="14"/>
          <p:cNvSpPr/>
          <p:nvPr/>
        </p:nvSpPr>
        <p:spPr>
          <a:xfrm rot="0" flipH="false" flipV="false">
            <a:off x="6223000" y="3683000"/>
            <a:ext cx="5461000" cy="1333500"/>
          </a:xfrm>
          <a:prstGeom prst="roundRect">
            <a:avLst>
              <a:gd name="adj" fmla="val 9523"/>
            </a:avLst>
          </a:prstGeom>
          <a:solidFill>
            <a:srgbClr val="F0FDF4">
              <a:alpha val="100000"/>
            </a:srgbClr>
          </a:solidFill>
          <a:ln w="12700" cmpd="sng" cap="flat">
            <a:solidFill>
              <a:srgbClr val="DCFCE7">
                <a:alpha val="10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413500" y="3810000"/>
            <a:ext cx="5080000" cy="1079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15803D"/>
                </a:solidFill>
                <a:latin typeface="微软雅黑"/>
                <a:ea typeface="微软雅黑"/>
                <a:cs typeface="微软雅黑"/>
                <a:sym typeface="微软雅黑"/>
              </a:rPr>
              <a:t>▌ 质量控制点 (QCP)</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600"/>
              </a:spcBef>
            </a:pPr>
            <a:r>
              <a:rPr lang="en-US" b="false" i="false" strike="noStrike" u="none" sz="1200">
                <a:solidFill>
                  <a:srgbClr val="374151"/>
                </a:solidFill>
                <a:latin typeface="Noto Sans SC"/>
                <a:ea typeface="Noto Sans SC"/>
                <a:cs typeface="Noto Sans SC"/>
                <a:sym typeface="Noto Sans SC"/>
              </a:rPr>
              <a:t>设置关键检查节点。例如：“初稿提交导师前，必须经过AI语法润色和逻辑自洽性检查”，避免低级错误影响专业度。</a:t>
            </a:r>
          </a:p>
        </p:txBody>
      </p:sp>
      <p:sp>
        <p:nvSpPr>
          <p:cNvPr name="AutoShape 16" id="16"/>
          <p:cNvSpPr/>
          <p:nvPr/>
        </p:nvSpPr>
        <p:spPr>
          <a:xfrm rot="0" flipH="false" flipV="false">
            <a:off x="6223000" y="5207000"/>
            <a:ext cx="5461000" cy="1333500"/>
          </a:xfrm>
          <a:prstGeom prst="roundRect">
            <a:avLst>
              <a:gd name="adj" fmla="val 9523"/>
            </a:avLst>
          </a:prstGeom>
          <a:solidFill>
            <a:srgbClr val="F0FDF4">
              <a:alpha val="100000"/>
            </a:srgbClr>
          </a:solidFill>
          <a:ln w="12700" cmpd="sng" cap="flat">
            <a:solidFill>
              <a:srgbClr val="DCFCE7">
                <a:alpha val="10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413500" y="5334000"/>
            <a:ext cx="5080000" cy="1079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15803D"/>
                </a:solidFill>
                <a:latin typeface="微软雅黑"/>
                <a:ea typeface="微软雅黑"/>
                <a:cs typeface="微软雅黑"/>
                <a:sym typeface="微软雅黑"/>
              </a:rPr>
              <a:t>▌ 复盘与迭代机制</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600"/>
              </a:spcBef>
            </a:pPr>
            <a:r>
              <a:rPr lang="en-US" b="false" i="false" strike="noStrike" u="none" sz="1200">
                <a:solidFill>
                  <a:srgbClr val="374151"/>
                </a:solidFill>
                <a:latin typeface="Noto Sans SC"/>
                <a:ea typeface="Noto Sans SC"/>
                <a:cs typeface="Noto Sans SC"/>
                <a:sym typeface="Noto Sans SC"/>
              </a:rPr>
              <a:t>建立拒稿分析或项目总结流程，定期反思：“这次的主要卡点是什么？SOP的哪个环节可以优化？”，实现能力的螺旋上升。</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10033000" y="254000"/>
            <a:ext cx="635000" cy="635000"/>
          </a:xfrm>
          <a:prstGeom prst="rect">
            <a:avLst/>
          </a:prstGeom>
          <a:noFill/>
          <a:ln w="25400" cmpd="sng" cap="flat">
            <a:noFill/>
            <a:prstDash val="solid"/>
            <a:round/>
          </a:ln>
        </p:spPr>
      </p:pic>
      <p:pic>
        <p:nvPicPr>
          <p:cNvPr name="Picture 3" id="3"/>
          <p:cNvPicPr>
            <a:picLocks noChangeAspect="true"/>
          </p:cNvPicPr>
          <p:nvPr/>
        </p:nvPicPr>
        <p:blipFill>
          <a:blip r:embed="rId3"/>
          <a:srcRect l="775" r="775" t="0" b="0"/>
          <a:stretch>
            <a:fillRect/>
          </a:stretch>
        </p:blipFill>
        <p:spPr>
          <a:xfrm rot="0" flipH="false" flipV="false">
            <a:off x="10922000" y="254000"/>
            <a:ext cx="635000" cy="635000"/>
          </a:xfrm>
          <a:prstGeom prst="rect">
            <a:avLst/>
          </a:prstGeom>
          <a:noFill/>
          <a:ln w="25400" cmpd="sng" cap="flat">
            <a:noFill/>
            <a:prstDash val="solid"/>
            <a:round/>
          </a:ln>
        </p:spPr>
      </p:pic>
      <p:sp>
        <p:nvSpPr>
          <p:cNvPr name="AutoShape 4" id="4"/>
          <p:cNvSpPr/>
          <p:nvPr/>
        </p:nvSpPr>
        <p:spPr>
          <a:xfrm rot="0" flipH="false" flipV="false">
            <a:off x="508000" y="1143000"/>
            <a:ext cx="11176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200">
                <a:solidFill>
                  <a:srgbClr val="111827"/>
                </a:solidFill>
                <a:latin typeface="Noto Sans SC"/>
                <a:ea typeface="Noto Sans SC"/>
                <a:cs typeface="Noto Sans SC"/>
                <a:sym typeface="Noto Sans SC"/>
              </a:rPr>
              <a:t>AI时代，什么是研究者真正的护城河？</a:t>
            </a:r>
            <a:endParaRPr lang="en-US" sz="1100"/>
          </a:p>
        </p:txBody>
      </p:sp>
      <p:sp>
        <p:nvSpPr>
          <p:cNvPr name="AutoShape 5" id="5"/>
          <p:cNvSpPr/>
          <p:nvPr/>
        </p:nvSpPr>
        <p:spPr>
          <a:xfrm rot="0" flipH="false" flipV="false">
            <a:off x="508000" y="2159000"/>
            <a:ext cx="11176000" cy="1143000"/>
          </a:xfrm>
          <a:prstGeom prst="roundRect">
            <a:avLst>
              <a:gd name="adj" fmla="val 13333"/>
            </a:avLst>
          </a:prstGeom>
          <a:solidFill>
            <a:srgbClr val="15803D">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2349500"/>
            <a:ext cx="10668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00000"/>
              </a:lnSpc>
              <a:defRPr/>
            </a:pPr>
            <a:r>
              <a:rPr lang="en-US" b="false" i="false" strike="noStrike" u="none" sz="1600">
                <a:solidFill>
                  <a:srgbClr val="FFFFFF">
                    <a:alpha val="90196"/>
                  </a:srgbClr>
                </a:solidFill>
                <a:latin typeface="Noto Sans SC"/>
                <a:ea typeface="Noto Sans SC"/>
                <a:cs typeface="Noto Sans SC"/>
                <a:sym typeface="Noto Sans SC"/>
              </a:rPr>
              <a:t>随着AI能力的不断增强，许多人会担心自己的工作被替代，但我想强调：</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00000"/>
              </a:lnSpc>
            </a:pPr>
            <a:r>
              <a:rPr lang="en-US" b="true" i="false" strike="noStrike" u="none" sz="2400">
                <a:solidFill>
                  <a:srgbClr val="FFFFFF"/>
                </a:solidFill>
                <a:latin typeface="Noto Sans SC"/>
                <a:ea typeface="Noto Sans SC"/>
                <a:cs typeface="Noto Sans SC"/>
                <a:sym typeface="Noto Sans SC"/>
              </a:rPr>
              <a:t>“执行力可以被替代，问题意识不能。”</a:t>
            </a:r>
          </a:p>
        </p:txBody>
      </p:sp>
      <p:sp>
        <p:nvSpPr>
          <p:cNvPr name="AutoShape 7" id="7"/>
          <p:cNvSpPr/>
          <p:nvPr/>
        </p:nvSpPr>
        <p:spPr>
          <a:xfrm rot="0" flipH="false" flipV="false">
            <a:off x="508000" y="3683000"/>
            <a:ext cx="3556000" cy="2667000"/>
          </a:xfrm>
          <a:prstGeom prst="roundRect">
            <a:avLst>
              <a:gd name="adj" fmla="val 3809"/>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635000" y="3937000"/>
            <a:ext cx="3302000" cy="2159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spcAft>
                <a:spcPts val="1000"/>
              </a:spcAft>
              <a:defRPr/>
            </a:pPr>
            <a:r>
              <a:rPr lang="en-US" b="true" i="false" strike="noStrike" u="none" sz="1800">
                <a:solidFill>
                  <a:srgbClr val="2563EB"/>
                </a:solidFill>
                <a:latin typeface="Noto Sans SC"/>
                <a:ea typeface="Noto Sans SC"/>
                <a:cs typeface="Noto Sans SC"/>
                <a:sym typeface="Noto Sans SC"/>
              </a:rPr>
              <a:t>01. 流程设计能力 (Process Design)</a:t>
            </a:r>
            <a:r>
              <a:rPr lang="en-US" b="false" i="false" strike="noStrike" u="none" sz="1600">
                <a:solidFill>
                  <a:srgbClr val="1F2329"/>
                </a:solidFill>
                <a:latin typeface="Noto Sans SC"/>
                <a:ea typeface="Noto Sans SC"/>
                <a:cs typeface="Noto Sans SC"/>
                <a:sym typeface="Noto Sans SC"/>
              </a:rPr>
              <a:t/>
            </a:r>
            <a:endParaRPr lang="en-US" sz="1100"/>
          </a:p>
          <a:p>
            <a:pPr algn="just" indent="0">
              <a:lnSpc>
                <a:spcPct val="116666"/>
              </a:lnSpc>
            </a:pPr>
            <a:r>
              <a:rPr lang="en-US" b="false" i="false" strike="noStrike" u="none" sz="1300">
                <a:solidFill>
                  <a:srgbClr val="374151"/>
                </a:solidFill>
                <a:latin typeface="Noto Sans SC"/>
                <a:ea typeface="Noto Sans SC"/>
                <a:cs typeface="Noto Sans SC"/>
                <a:sym typeface="Noto Sans SC"/>
              </a:rPr>
              <a:t>不再是被动地执行任务，而是主动设计和优化自己的研究工作流，知道如何让人和AI高效协作，发挥各自优势。</a:t>
            </a:r>
          </a:p>
        </p:txBody>
      </p:sp>
      <p:sp>
        <p:nvSpPr>
          <p:cNvPr name="AutoShape 9" id="9"/>
          <p:cNvSpPr/>
          <p:nvPr/>
        </p:nvSpPr>
        <p:spPr>
          <a:xfrm rot="0" flipH="false" flipV="false">
            <a:off x="4318000" y="3683000"/>
            <a:ext cx="3556000" cy="2667000"/>
          </a:xfrm>
          <a:prstGeom prst="roundRect">
            <a:avLst>
              <a:gd name="adj" fmla="val 3809"/>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445000" y="3937000"/>
            <a:ext cx="3302000" cy="2159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spcAft>
                <a:spcPts val="1000"/>
              </a:spcAft>
              <a:defRPr/>
            </a:pPr>
            <a:r>
              <a:rPr lang="en-US" b="true" i="false" strike="noStrike" u="none" sz="1800">
                <a:solidFill>
                  <a:srgbClr val="EA580C"/>
                </a:solidFill>
                <a:latin typeface="Noto Sans SC"/>
                <a:ea typeface="Noto Sans SC"/>
                <a:cs typeface="Noto Sans SC"/>
                <a:sym typeface="Noto Sans SC"/>
              </a:rPr>
              <a:t>02. 高质量提问能力 (High-Quality Questioning)</a:t>
            </a:r>
            <a:r>
              <a:rPr lang="en-US" b="false" i="false" strike="noStrike" u="none" sz="1600">
                <a:solidFill>
                  <a:srgbClr val="1F2329"/>
                </a:solidFill>
                <a:latin typeface="Noto Sans SC"/>
                <a:ea typeface="Noto Sans SC"/>
                <a:cs typeface="Noto Sans SC"/>
                <a:sym typeface="Noto Sans SC"/>
              </a:rPr>
              <a:t/>
            </a:r>
            <a:endParaRPr lang="en-US" sz="1100"/>
          </a:p>
          <a:p>
            <a:pPr algn="just" indent="0">
              <a:lnSpc>
                <a:spcPct val="116666"/>
              </a:lnSpc>
            </a:pPr>
            <a:r>
              <a:rPr lang="en-US" b="false" i="false" strike="noStrike" u="none" sz="1300">
                <a:solidFill>
                  <a:srgbClr val="374151"/>
                </a:solidFill>
                <a:latin typeface="Noto Sans SC"/>
                <a:ea typeface="Noto Sans SC"/>
                <a:cs typeface="Noto Sans SC"/>
                <a:sym typeface="Noto Sans SC"/>
              </a:rPr>
              <a:t>能够提出深刻、精准、有价值的问题。因为AI的输出质量永远取决于输入质量——遵循GIGO原则（Garbage In, Garbage Out）。</a:t>
            </a:r>
          </a:p>
        </p:txBody>
      </p:sp>
      <p:sp>
        <p:nvSpPr>
          <p:cNvPr name="AutoShape 11" id="11"/>
          <p:cNvSpPr/>
          <p:nvPr/>
        </p:nvSpPr>
        <p:spPr>
          <a:xfrm rot="0" flipH="false" flipV="false">
            <a:off x="8128000" y="3683000"/>
            <a:ext cx="3556000" cy="2667000"/>
          </a:xfrm>
          <a:prstGeom prst="roundRect">
            <a:avLst>
              <a:gd name="adj" fmla="val 3809"/>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8255000" y="3937000"/>
            <a:ext cx="3302000" cy="2159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spcAft>
                <a:spcPts val="1000"/>
              </a:spcAft>
              <a:defRPr/>
            </a:pPr>
            <a:r>
              <a:rPr lang="en-US" b="true" i="false" strike="noStrike" u="none" sz="1800">
                <a:solidFill>
                  <a:srgbClr val="9333EA"/>
                </a:solidFill>
                <a:latin typeface="Noto Sans SC"/>
                <a:ea typeface="Noto Sans SC"/>
                <a:cs typeface="Noto Sans SC"/>
                <a:sym typeface="Noto Sans SC"/>
              </a:rPr>
              <a:t>03. AI产出质量判断能力 (Quality Judgment)</a:t>
            </a:r>
            <a:r>
              <a:rPr lang="en-US" b="false" i="false" strike="noStrike" u="none" sz="1600">
                <a:solidFill>
                  <a:srgbClr val="1F2329"/>
                </a:solidFill>
                <a:latin typeface="Noto Sans SC"/>
                <a:ea typeface="Noto Sans SC"/>
                <a:cs typeface="Noto Sans SC"/>
                <a:sym typeface="Noto Sans SC"/>
              </a:rPr>
              <a:t/>
            </a:r>
            <a:endParaRPr lang="en-US" sz="1100"/>
          </a:p>
          <a:p>
            <a:pPr algn="just" indent="0">
              <a:lnSpc>
                <a:spcPct val="116666"/>
              </a:lnSpc>
            </a:pPr>
            <a:r>
              <a:rPr lang="en-US" b="false" i="false" strike="noStrike" u="none" sz="1300">
                <a:solidFill>
                  <a:srgbClr val="374151"/>
                </a:solidFill>
                <a:latin typeface="Noto Sans SC"/>
                <a:ea typeface="Noto Sans SC"/>
                <a:cs typeface="Noto Sans SC"/>
                <a:sym typeface="Noto Sans SC"/>
              </a:rPr>
              <a:t>能够批判性地评估AI生成的内容，识别其中的事实性错误、潜在偏见和逻辑漏洞，并进行专业、有效的修正与完善。</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10033000" y="254000"/>
            <a:ext cx="635000" cy="635000"/>
          </a:xfrm>
          <a:prstGeom prst="rect">
            <a:avLst/>
          </a:prstGeom>
          <a:noFill/>
          <a:ln w="25400" cmpd="sng" cap="flat">
            <a:noFill/>
            <a:prstDash val="solid"/>
            <a:round/>
          </a:ln>
        </p:spPr>
      </p:pic>
      <p:pic>
        <p:nvPicPr>
          <p:cNvPr name="Picture 3" id="3"/>
          <p:cNvPicPr>
            <a:picLocks noChangeAspect="true"/>
          </p:cNvPicPr>
          <p:nvPr/>
        </p:nvPicPr>
        <p:blipFill>
          <a:blip r:embed="rId3"/>
          <a:srcRect l="775" r="775" t="0" b="0"/>
          <a:stretch>
            <a:fillRect/>
          </a:stretch>
        </p:blipFill>
        <p:spPr>
          <a:xfrm rot="0" flipH="false" flipV="false">
            <a:off x="11049000" y="254000"/>
            <a:ext cx="635000" cy="635000"/>
          </a:xfrm>
          <a:prstGeom prst="rect">
            <a:avLst/>
          </a:prstGeom>
          <a:noFill/>
          <a:ln w="25400" cmpd="sng" cap="flat">
            <a:noFill/>
            <a:prstDash val="solid"/>
            <a:round/>
          </a:ln>
        </p:spPr>
      </p:pic>
      <p:sp>
        <p:nvSpPr>
          <p:cNvPr name="AutoShape 4" id="4"/>
          <p:cNvSpPr/>
          <p:nvPr/>
        </p:nvSpPr>
        <p:spPr>
          <a:xfrm rot="0" flipH="false" flipV="false">
            <a:off x="508000" y="317500"/>
            <a:ext cx="889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040A0"/>
                </a:solidFill>
                <a:latin typeface="Noto Sans SC"/>
                <a:ea typeface="Noto Sans SC"/>
                <a:cs typeface="Noto Sans SC"/>
                <a:sym typeface="Noto Sans SC"/>
              </a:rPr>
              <a:t>你的AI工具箱（建议拍照保存）</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600">
                <a:solidFill>
                  <a:srgbClr val="6B7280"/>
                </a:solidFill>
                <a:latin typeface="Noto Sans SC"/>
                <a:ea typeface="Noto Sans SC"/>
                <a:cs typeface="Noto Sans SC"/>
                <a:sym typeface="Noto Sans SC"/>
              </a:rPr>
              <a:t>涵盖科研全流程的通用工具清单，助你事半功倍</a:t>
            </a:r>
          </a:p>
        </p:txBody>
      </p:sp>
      <p:sp>
        <p:nvSpPr>
          <p:cNvPr name="AutoShape 5" id="5"/>
          <p:cNvSpPr/>
          <p:nvPr/>
        </p:nvSpPr>
        <p:spPr>
          <a:xfrm rot="0" flipH="false" flipV="false">
            <a:off x="381000" y="1524000"/>
            <a:ext cx="3556000" cy="3937000"/>
          </a:xfrm>
          <a:prstGeom prst="roundRect">
            <a:avLst>
              <a:gd name="adj" fmla="val 4285"/>
            </a:avLst>
          </a:prstGeom>
          <a:solidFill>
            <a:srgbClr val="EFF6FF">
              <a:alpha val="100000"/>
            </a:srgbClr>
          </a:solidFill>
          <a:ln w="12700" cmpd="sng" cap="flat">
            <a:solidFill>
              <a:srgbClr val="BFDBFE">
                <a:alpha val="10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571500" y="1714500"/>
            <a:ext cx="3175000" cy="3556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true" i="false" strike="noStrike" u="none" sz="2000">
                <a:solidFill>
                  <a:srgbClr val="1E40AF"/>
                </a:solidFill>
                <a:latin typeface="Noto Sans SC"/>
                <a:ea typeface="Noto Sans SC"/>
                <a:cs typeface="Noto Sans SC"/>
                <a:sym typeface="Noto Sans SC"/>
              </a:rPr>
              <a:t>📚 文献管理与阅读</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200"/>
              </a:spcBef>
            </a:pPr>
            <a:r>
              <a:rPr lang="en-US" b="true" i="false" strike="noStrike" u="none" sz="1300">
                <a:solidFill>
                  <a:srgbClr val="374151"/>
                </a:solidFill>
                <a:latin typeface="Noto Sans SC"/>
                <a:ea typeface="Noto Sans SC"/>
                <a:cs typeface="Noto Sans SC"/>
                <a:sym typeface="Noto Sans SC"/>
              </a:rPr>
              <a:t>• Zotero / Mendeley：</a:t>
            </a:r>
            <a:r>
              <a:rPr lang="en-US" b="false" i="false" strike="noStrike" u="none" sz="1300">
                <a:solidFill>
                  <a:srgbClr val="374151"/>
                </a:solidFill>
                <a:latin typeface="Noto Sans SC"/>
                <a:ea typeface="Noto Sans SC"/>
                <a:cs typeface="Noto Sans SC"/>
                <a:sym typeface="Noto Sans SC"/>
              </a:rPr>
              <a:t>经典文献管理，轻松分类与引用。</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true" i="false" strike="noStrike" u="none" sz="1300">
                <a:solidFill>
                  <a:srgbClr val="374151"/>
                </a:solidFill>
                <a:latin typeface="Noto Sans SC"/>
                <a:ea typeface="Noto Sans SC"/>
                <a:cs typeface="Noto Sans SC"/>
                <a:sym typeface="Noto Sans SC"/>
              </a:rPr>
              <a:t>• NotebookLM：</a:t>
            </a:r>
            <a:r>
              <a:rPr lang="en-US" b="false" i="false" strike="noStrike" u="none" sz="1300">
                <a:solidFill>
                  <a:srgbClr val="374151"/>
                </a:solidFill>
                <a:latin typeface="Noto Sans SC"/>
                <a:ea typeface="Noto Sans SC"/>
                <a:cs typeface="Noto Sans SC"/>
                <a:sym typeface="Noto Sans SC"/>
              </a:rPr>
              <a:t>谷歌出品，上传论文秒懂核心观点。</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true" i="false" strike="noStrike" u="none" sz="1300">
                <a:solidFill>
                  <a:srgbClr val="374151"/>
                </a:solidFill>
                <a:latin typeface="Noto Sans SC"/>
                <a:ea typeface="Noto Sans SC"/>
                <a:cs typeface="Noto Sans SC"/>
                <a:sym typeface="Noto Sans SC"/>
              </a:rPr>
              <a:t>• Semantic Scholar：</a:t>
            </a:r>
            <a:r>
              <a:rPr lang="en-US" b="false" i="false" strike="noStrike" u="none" sz="1300">
                <a:solidFill>
                  <a:srgbClr val="374151"/>
                </a:solidFill>
                <a:latin typeface="Noto Sans SC"/>
                <a:ea typeface="Noto Sans SC"/>
                <a:cs typeface="Noto Sans SC"/>
                <a:sym typeface="Noto Sans SC"/>
              </a:rPr>
              <a:t>AI驱动的学术搜索引擎，找文献更精准。</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true" i="false" strike="noStrike" u="none" sz="1300">
                <a:solidFill>
                  <a:srgbClr val="374151"/>
                </a:solidFill>
                <a:latin typeface="Noto Sans SC"/>
                <a:ea typeface="Noto Sans SC"/>
                <a:cs typeface="Noto Sans SC"/>
                <a:sym typeface="Noto Sans SC"/>
              </a:rPr>
              <a:t>• Elicit：</a:t>
            </a:r>
            <a:r>
              <a:rPr lang="en-US" b="false" i="false" strike="noStrike" u="none" sz="1300">
                <a:solidFill>
                  <a:srgbClr val="374151"/>
                </a:solidFill>
                <a:latin typeface="Noto Sans SC"/>
                <a:ea typeface="Noto Sans SC"/>
                <a:cs typeface="Noto Sans SC"/>
                <a:sym typeface="Noto Sans SC"/>
              </a:rPr>
              <a:t>专为科研设计的AI助手，提炼数据与结论。</a:t>
            </a:r>
          </a:p>
        </p:txBody>
      </p:sp>
      <p:sp>
        <p:nvSpPr>
          <p:cNvPr name="AutoShape 7" id="7"/>
          <p:cNvSpPr/>
          <p:nvPr/>
        </p:nvSpPr>
        <p:spPr>
          <a:xfrm rot="0" flipH="false" flipV="false">
            <a:off x="4318000" y="1524000"/>
            <a:ext cx="3556000" cy="3937000"/>
          </a:xfrm>
          <a:prstGeom prst="roundRect">
            <a:avLst>
              <a:gd name="adj" fmla="val 4285"/>
            </a:avLst>
          </a:prstGeom>
          <a:solidFill>
            <a:srgbClr val="ECFDF5">
              <a:alpha val="100000"/>
            </a:srgbClr>
          </a:solidFill>
          <a:ln w="12700" cmpd="sng" cap="flat">
            <a:solidFill>
              <a:srgbClr val="A7F3D0">
                <a:alpha val="10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4508500" y="1714500"/>
            <a:ext cx="3175000" cy="3556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true" i="false" strike="noStrike" u="none" sz="2000">
                <a:solidFill>
                  <a:srgbClr val="065F46"/>
                </a:solidFill>
                <a:latin typeface="Noto Sans SC"/>
                <a:ea typeface="Noto Sans SC"/>
                <a:cs typeface="Noto Sans SC"/>
                <a:sym typeface="Noto Sans SC"/>
              </a:rPr>
              <a:t>✍️ 写作与语言优化</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200"/>
              </a:spcBef>
            </a:pPr>
            <a:r>
              <a:rPr lang="en-US" b="true" i="false" strike="noStrike" u="none" sz="1300">
                <a:solidFill>
                  <a:srgbClr val="374151"/>
                </a:solidFill>
                <a:latin typeface="Noto Sans SC"/>
                <a:ea typeface="Noto Sans SC"/>
                <a:cs typeface="Noto Sans SC"/>
                <a:sym typeface="Noto Sans SC"/>
              </a:rPr>
              <a:t>• Claude.ai：</a:t>
            </a:r>
            <a:r>
              <a:rPr lang="en-US" b="false" i="false" strike="noStrike" u="none" sz="1300">
                <a:solidFill>
                  <a:srgbClr val="374151"/>
                </a:solidFill>
                <a:latin typeface="Noto Sans SC"/>
                <a:ea typeface="Noto Sans SC"/>
                <a:cs typeface="Noto Sans SC"/>
                <a:sym typeface="Noto Sans SC"/>
              </a:rPr>
              <a:t>处理长文本的神器，适合论文初稿与润色。</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true" i="false" strike="noStrike" u="none" sz="1300">
                <a:solidFill>
                  <a:srgbClr val="374151"/>
                </a:solidFill>
                <a:latin typeface="Noto Sans SC"/>
                <a:ea typeface="Noto Sans SC"/>
                <a:cs typeface="Noto Sans SC"/>
                <a:sym typeface="Noto Sans SC"/>
              </a:rPr>
              <a:t>• ChatGPT / GPT-4：</a:t>
            </a:r>
            <a:r>
              <a:rPr lang="en-US" b="false" i="false" strike="noStrike" u="none" sz="1300">
                <a:solidFill>
                  <a:srgbClr val="374151"/>
                </a:solidFill>
                <a:latin typeface="Noto Sans SC"/>
                <a:ea typeface="Noto Sans SC"/>
                <a:cs typeface="Noto Sans SC"/>
                <a:sym typeface="Noto Sans SC"/>
              </a:rPr>
              <a:t>通用性强，快速构思框架和逻辑。</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true" i="false" strike="noStrike" u="none" sz="1300">
                <a:solidFill>
                  <a:srgbClr val="374151"/>
                </a:solidFill>
                <a:latin typeface="Noto Sans SC"/>
                <a:ea typeface="Noto Sans SC"/>
                <a:cs typeface="Noto Sans SC"/>
                <a:sym typeface="Noto Sans SC"/>
              </a:rPr>
              <a:t>• Grammarly：</a:t>
            </a:r>
            <a:r>
              <a:rPr lang="en-US" b="false" i="false" strike="noStrike" u="none" sz="1300">
                <a:solidFill>
                  <a:srgbClr val="374151"/>
                </a:solidFill>
                <a:latin typeface="Noto Sans SC"/>
                <a:ea typeface="Noto Sans SC"/>
                <a:cs typeface="Noto Sans SC"/>
                <a:sym typeface="Noto Sans SC"/>
              </a:rPr>
              <a:t>语法与学术写作风格检查的业界标杆。</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true" i="false" strike="noStrike" u="none" sz="1300">
                <a:solidFill>
                  <a:srgbClr val="374151"/>
                </a:solidFill>
                <a:latin typeface="Noto Sans SC"/>
                <a:ea typeface="Noto Sans SC"/>
                <a:cs typeface="Noto Sans SC"/>
                <a:sym typeface="Noto Sans SC"/>
              </a:rPr>
              <a:t>• Cursor：</a:t>
            </a:r>
            <a:r>
              <a:rPr lang="en-US" b="false" i="false" strike="noStrike" u="none" sz="1300">
                <a:solidFill>
                  <a:srgbClr val="374151"/>
                </a:solidFill>
                <a:latin typeface="Noto Sans SC"/>
                <a:ea typeface="Noto Sans SC"/>
                <a:cs typeface="Noto Sans SC"/>
                <a:sym typeface="Noto Sans SC"/>
              </a:rPr>
              <a:t>AI辅助代码编辑器，科研编程效率倍增。</a:t>
            </a:r>
          </a:p>
        </p:txBody>
      </p:sp>
      <p:sp>
        <p:nvSpPr>
          <p:cNvPr name="AutoShape 9" id="9"/>
          <p:cNvSpPr/>
          <p:nvPr/>
        </p:nvSpPr>
        <p:spPr>
          <a:xfrm rot="0" flipH="false" flipV="false">
            <a:off x="8255000" y="1524000"/>
            <a:ext cx="3556000" cy="3937000"/>
          </a:xfrm>
          <a:prstGeom prst="roundRect">
            <a:avLst>
              <a:gd name="adj" fmla="val 4285"/>
            </a:avLst>
          </a:prstGeom>
          <a:solidFill>
            <a:srgbClr val="FFF7ED">
              <a:alpha val="100000"/>
            </a:srgbClr>
          </a:solidFill>
          <a:ln w="12700" cmpd="sng" cap="flat">
            <a:solidFill>
              <a:srgbClr val="FED7AA">
                <a:alpha val="10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8445500" y="1714500"/>
            <a:ext cx="3175000" cy="3556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true" i="false" strike="noStrike" u="none" sz="2000">
                <a:solidFill>
                  <a:srgbClr val="9A3412"/>
                </a:solidFill>
                <a:latin typeface="Noto Sans SC"/>
                <a:ea typeface="Noto Sans SC"/>
                <a:cs typeface="Noto Sans SC"/>
                <a:sym typeface="Noto Sans SC"/>
              </a:rPr>
              <a:t>🚀 行动建议：从2个开始</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200"/>
              </a:spcBef>
            </a:pPr>
            <a:r>
              <a:rPr lang="en-US" b="true" i="false" strike="noStrike" u="none" sz="1300">
                <a:solidFill>
                  <a:srgbClr val="374151"/>
                </a:solidFill>
                <a:latin typeface="Noto Sans SC"/>
                <a:ea typeface="Noto Sans SC"/>
                <a:cs typeface="Noto Sans SC"/>
                <a:sym typeface="Noto Sans SC"/>
              </a:rPr>
              <a:t>1. 上手 NotebookLM：</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374151"/>
                </a:solidFill>
                <a:latin typeface="Noto Sans SC"/>
                <a:ea typeface="Noto Sans SC"/>
                <a:cs typeface="Noto Sans SC"/>
                <a:sym typeface="Noto Sans SC"/>
              </a:rPr>
              <a:t>选3-5篇领域核心论文上传，让它帮你梳理逻辑、生成综述初稿或回答具体疑问。</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ts val="1200"/>
              </a:spcBef>
            </a:pPr>
            <a:r>
              <a:rPr lang="en-US" b="true" i="false" strike="noStrike" u="none" sz="1300">
                <a:solidFill>
                  <a:srgbClr val="374151"/>
                </a:solidFill>
                <a:latin typeface="Noto Sans SC"/>
                <a:ea typeface="Noto Sans SC"/>
                <a:cs typeface="Noto Sans SC"/>
                <a:sym typeface="Noto Sans SC"/>
              </a:rPr>
              <a:t>2. 尝试 Claude：</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374151"/>
                </a:solidFill>
                <a:latin typeface="Noto Sans SC"/>
                <a:ea typeface="Noto Sans SC"/>
                <a:cs typeface="Noto Sans SC"/>
                <a:sym typeface="Noto Sans SC"/>
              </a:rPr>
              <a:t>在下次写论文时，用它来起草摘要（Abstract）或讨论（Discussion）部分，再在此基础上修改。</a:t>
            </a:r>
          </a:p>
        </p:txBody>
      </p:sp>
      <p:sp>
        <p:nvSpPr>
          <p:cNvPr name="AutoShape 11" id="11"/>
          <p:cNvSpPr/>
          <p:nvPr/>
        </p:nvSpPr>
        <p:spPr>
          <a:xfrm rot="0" flipH="false" flipV="false">
            <a:off x="381000" y="5715000"/>
            <a:ext cx="11430000" cy="889000"/>
          </a:xfrm>
          <a:prstGeom prst="roundRect">
            <a:avLst>
              <a:gd name="adj" fmla="val 14285"/>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381000" y="5842000"/>
            <a:ext cx="11430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111827"/>
                </a:solidFill>
                <a:latin typeface="Noto Sans SC"/>
                <a:ea typeface="Noto Sans SC"/>
                <a:cs typeface="Noto Sans SC"/>
                <a:sym typeface="Noto Sans SC"/>
              </a:rPr>
              <a:t>💡 最重要的不是工具本身，而是“善假于物”的思维方式。</a:t>
            </a:r>
            <a:endParaRPr lang="en-US" sz="1100"/>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381000"/>
            <a:ext cx="3175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D6EFD"/>
                </a:solidFill>
                <a:latin typeface="Noto Sans SC"/>
                <a:ea typeface="Noto Sans SC"/>
                <a:cs typeface="Noto Sans SC"/>
                <a:sym typeface="Noto Sans SC"/>
              </a:rPr>
              <a:t>Q&amp;A：互动讨论</a:t>
            </a:r>
            <a:endParaRPr lang="en-US" sz="1100"/>
          </a:p>
        </p:txBody>
      </p:sp>
      <p:pic>
        <p:nvPicPr>
          <p:cNvPr name="Picture 3" id="3"/>
          <p:cNvPicPr>
            <a:picLocks noChangeAspect="true"/>
          </p:cNvPicPr>
          <p:nvPr/>
        </p:nvPicPr>
        <p:blipFill>
          <a:blip r:embed="rId2"/>
          <a:srcRect l="0" r="0" t="0" b="0"/>
          <a:stretch>
            <a:fillRect/>
          </a:stretch>
        </p:blipFill>
        <p:spPr>
          <a:xfrm rot="0" flipH="false" flipV="false">
            <a:off x="8890000" y="381000"/>
            <a:ext cx="1016000" cy="1016000"/>
          </a:xfrm>
          <a:prstGeom prst="rect">
            <a:avLst/>
          </a:prstGeom>
          <a:noFill/>
          <a:ln w="25400" cmpd="sng" cap="flat">
            <a:noFill/>
            <a:prstDash val="solid"/>
            <a:round/>
          </a:ln>
        </p:spPr>
      </p:pic>
      <p:pic>
        <p:nvPicPr>
          <p:cNvPr name="Picture 4" id="4"/>
          <p:cNvPicPr>
            <a:picLocks noChangeAspect="true"/>
          </p:cNvPicPr>
          <p:nvPr/>
        </p:nvPicPr>
        <p:blipFill>
          <a:blip r:embed="rId3"/>
          <a:srcRect l="775" r="775" t="0" b="0"/>
          <a:stretch>
            <a:fillRect/>
          </a:stretch>
        </p:blipFill>
        <p:spPr>
          <a:xfrm rot="0" flipH="false" flipV="false">
            <a:off x="10287000" y="381000"/>
            <a:ext cx="1016000" cy="1016000"/>
          </a:xfrm>
          <a:prstGeom prst="rect">
            <a:avLst/>
          </a:prstGeom>
          <a:noFill/>
          <a:ln w="25400" cmpd="sng" cap="flat">
            <a:noFill/>
            <a:prstDash val="solid"/>
            <a:round/>
          </a:ln>
        </p:spPr>
      </p:pic>
      <p:sp>
        <p:nvSpPr>
          <p:cNvPr name="AutoShape 5" id="5"/>
          <p:cNvSpPr/>
          <p:nvPr/>
        </p:nvSpPr>
        <p:spPr>
          <a:xfrm rot="0" flipH="false" flipV="false">
            <a:off x="508000" y="1651000"/>
            <a:ext cx="11176000" cy="2413000"/>
          </a:xfrm>
          <a:prstGeom prst="roundRect">
            <a:avLst>
              <a:gd name="adj" fmla="val 6315"/>
            </a:avLst>
          </a:prstGeom>
          <a:solidFill>
            <a:srgbClr val="F3F4F6">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841500"/>
            <a:ext cx="10668000" cy="203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800">
                <a:solidFill>
                  <a:srgbClr val="1F2329"/>
                </a:solidFill>
                <a:latin typeface="Noto Sans SC"/>
                <a:ea typeface="Noto Sans SC"/>
                <a:cs typeface="Noto Sans SC"/>
                <a:sym typeface="Noto Sans SC"/>
              </a:rPr>
              <a:t>💡 思考与讨论</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000"/>
              </a:spcBef>
            </a:pPr>
            <a:r>
              <a:rPr lang="en-US" b="false" i="false" strike="noStrike" u="none" sz="1300">
                <a:solidFill>
                  <a:srgbClr val="374151"/>
                </a:solidFill>
                <a:latin typeface="Noto Sans SC"/>
                <a:ea typeface="Noto Sans SC"/>
                <a:cs typeface="Noto Sans SC"/>
                <a:sym typeface="Noto Sans SC"/>
              </a:rPr>
              <a:t>1. 回顾开场投票，你目前在科研哪个阶段最耗时？今天介绍的AI方法能解决吗？具体怎么落地？</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374151"/>
                </a:solidFill>
                <a:latin typeface="Noto Sans SC"/>
                <a:ea typeface="Noto Sans SC"/>
                <a:cs typeface="Noto Sans SC"/>
                <a:sym typeface="Noto Sans SC"/>
              </a:rPr>
              <a:t>2. 你的导师知道你使用AI吗？你认为科研中AI的应用边界在哪？如何坚守学术道德底线？</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374151"/>
                </a:solidFill>
                <a:latin typeface="Noto Sans SC"/>
                <a:ea typeface="Noto Sans SC"/>
                <a:cs typeface="Noto Sans SC"/>
                <a:sym typeface="Noto Sans SC"/>
              </a:rPr>
              <a:t>3. AI辅助论文写作算学术不端吗？我们该如何在学术成果中规范声明AI工具的使用？</a:t>
            </a:r>
          </a:p>
        </p:txBody>
      </p:sp>
      <p:sp>
        <p:nvSpPr>
          <p:cNvPr name="AutoShape 7" id="7"/>
          <p:cNvSpPr/>
          <p:nvPr/>
        </p:nvSpPr>
        <p:spPr>
          <a:xfrm rot="0" flipH="false" flipV="false">
            <a:off x="508000" y="4318000"/>
            <a:ext cx="11176000" cy="1397000"/>
          </a:xfrm>
          <a:prstGeom prst="roundRect">
            <a:avLst>
              <a:gd name="adj" fmla="val 10909"/>
            </a:avLst>
          </a:prstGeom>
          <a:solidFill>
            <a:srgbClr val="EFF6FF">
              <a:alpha val="100000"/>
            </a:srgbClr>
          </a:solidFill>
          <a:ln w="12700" cmpd="sng" cap="flat">
            <a:solidFill>
              <a:srgbClr val="BFDBFE">
                <a:alpha val="10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762000" y="4572000"/>
            <a:ext cx="10668000" cy="8890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true" i="false" strike="noStrike" u="none" sz="2000">
                <a:solidFill>
                  <a:srgbClr val="D93025"/>
                </a:solidFill>
                <a:latin typeface="Noto Sans SC"/>
                <a:ea typeface="Noto Sans SC"/>
                <a:cs typeface="Noto Sans SC"/>
                <a:sym typeface="Noto Sans SC"/>
              </a:rPr>
              <a:t>“不要用博士的大脑，去做助理的工作。”</a:t>
            </a:r>
            <a:r>
              <a:rPr lang="en-US" b="true" i="false" strike="noStrike" u="none" sz="2000">
                <a:solidFill>
                  <a:srgbClr val="1F2329"/>
                </a:solidFill>
                <a:latin typeface="Noto Sans SC"/>
                <a:ea typeface="Noto Sans SC"/>
                <a:cs typeface="Noto Sans SC"/>
                <a:sym typeface="Noto Sans SC"/>
              </a:rPr>
              <a:t/>
            </a:r>
            <a:endParaRPr lang="en-US" sz="1100"/>
          </a:p>
          <a:p>
            <a:pPr algn="ctr" indent="0">
              <a:lnSpc>
                <a:spcPct val="116666"/>
              </a:lnSpc>
            </a:pPr>
            <a:r>
              <a:rPr lang="en-US" b="true" i="false" strike="noStrike" u="none" sz="2000">
                <a:solidFill>
                  <a:srgbClr val="2563EB"/>
                </a:solidFill>
                <a:latin typeface="Noto Sans SC"/>
                <a:ea typeface="Noto Sans SC"/>
                <a:cs typeface="Noto Sans SC"/>
                <a:sym typeface="Noto Sans SC"/>
              </a:rPr>
              <a:t>“把流程设计好，让AI替你跑。”</a:t>
            </a:r>
          </a:p>
        </p:txBody>
      </p:sp>
      <p:sp>
        <p:nvSpPr>
          <p:cNvPr name="AutoShape 9" id="9"/>
          <p:cNvSpPr/>
          <p:nvPr/>
        </p:nvSpPr>
        <p:spPr>
          <a:xfrm rot="0" flipH="false" flipV="false">
            <a:off x="0" y="5969000"/>
            <a:ext cx="12192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800">
                <a:solidFill>
                  <a:srgbClr val="1F2329"/>
                </a:solidFill>
                <a:latin typeface="Noto Sans SC"/>
                <a:ea typeface="Noto Sans SC"/>
                <a:cs typeface="Noto Sans SC"/>
                <a:sym typeface="Noto Sans SC"/>
              </a:rPr>
              <a:t>谢谢大家！</a:t>
            </a:r>
            <a:endParaRPr lang="en-US" sz="1100"/>
          </a:p>
        </p:txBody>
      </p:sp>
      <p:pic>
        <p:nvPicPr>
          <p:cNvPr name="Picture 10" id="10"/>
          <p:cNvPicPr>
            <a:picLocks noChangeAspect="true"/>
          </p:cNvPicPr>
          <p:nvPr/>
        </p:nvPicPr>
        <p:blipFill>
          <a:blip r:embed="rId5"/>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